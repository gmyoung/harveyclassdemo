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.jpe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12889" r="128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2C2A8A-B7D1-4B16-A94B-063853FA6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90A0E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48A958-703D-44D7-8AFB-4F37E5B21F2A}"/>
              </a:ext>
            </a:extLst>
          </p:cNvPr>
          <p:cNvSpPr>
            <a:spLocks noGrp="1"/>
          </p:cNvSpPr>
          <p:nvPr/>
        </p:nvSpPr>
        <p:spPr>
          <a:xfrm>
            <a:off x="419100" y="495300"/>
            <a:ext cx="895350" cy="13335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4" name="title-1">
            <a:extLst>
              <a:ext uri="{FF2B5EF4-FFF2-40B4-BE49-F238E27FC236}">
                <a16:creationId xmlns:a16="http://schemas.microsoft.com/office/drawing/2014/main" id="{86030227-680B-4439-BF32-1A88F59DC43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5286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1181"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 the Brick Reached the Screen</a:t>
            </a:r>
          </a:p>
        </p:txBody>
      </p:sp>
      <p:sp>
        <p:nvSpPr>
          <p:cNvPr id="5" name="subtitle-1">
            <a:extLst>
              <a:ext uri="{FF2B5EF4-FFF2-40B4-BE49-F238E27FC236}">
                <a16:creationId xmlns:a16="http://schemas.microsoft.com/office/drawing/2014/main" id="{D9C633B2-5C8B-42CB-AFD3-5F61CF43D05A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How LEGO Became a</a:t>
            </a:r>
          </a:p>
          <a:p>
            <a:pPr algn="l">
              <a:def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Cross-Media Play Company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7DCD1-C066-4933-AA12-F5E198207120}"/>
              </a:ext>
            </a:extLst>
          </p:cNvPr>
          <p:cNvSpPr>
            <a:spLocks noGrp="1"/>
          </p:cNvSpPr>
          <p:nvPr/>
        </p:nvSpPr>
        <p:spPr>
          <a:xfrm>
            <a:off x="419100" y="3638550"/>
            <a:ext cx="428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FILM × TV × GAMES × DIGITAL PLATFORMS</a:t>
            </a:r>
          </a:p>
          <a:p>
            <a:pPr algn="l">
              <a:def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VRIO + RELATED DIVERSIFICATION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9AF492-1948-4B63-89F2-E13F52073C00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0">
                <a:solidFill>
                  <a:srgbClr val="A8A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ADB8"/>
                </a:solidFill>
                <a:latin typeface="Microsoft YaHei"/>
                <a:ea typeface="Microsoft YaHei"/>
                <a:cs typeface="Microsoft YaHei"/>
              </a:rPr>
              <a:t>Press → to begin. Click yellow buttons to explore.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12D06-CE26-45DC-BA98-BF3922A6F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79321-A703-4128-ACDB-9A6ED9485B8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E87ED9-944B-4C36-8D37-9EF8F0BEBC83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C552E-0642-4CAD-A924-9855F74E11C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12" name="slide-number-1">
            <a:extLst>
              <a:ext uri="{FF2B5EF4-FFF2-40B4-BE49-F238E27FC236}">
                <a16:creationId xmlns:a16="http://schemas.microsoft.com/office/drawing/2014/main" id="{D0104146-7BCE-4354-8B96-DBBD50B3BB25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223514-FDAA-4909-B4D0-24DB5542EF0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Images: official LEGO Group / Universal Pictures press assets</a:t>
            </a:r>
          </a:p>
        </p:txBody>
      </p:sp>
    </p:spTree>
    <p:extLst>
      <p:ext uri="{BB962C8B-B14F-4D97-AF65-F5344CB8AC3E}">
        <p14:creationId xmlns:p14="http://schemas.microsoft.com/office/powerpoint/2010/main" val="7404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20AB526-1DF5-42D9-A103-8037B3095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3BECF1-F631-4C90-8EE5-CA33967FF3C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5D54A-CFF8-4087-9E71-515DE426D944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2D0A1-1E4A-4DE9-9838-8629F5E253B4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2">
            <a:extLst>
              <a:ext uri="{FF2B5EF4-FFF2-40B4-BE49-F238E27FC236}">
                <a16:creationId xmlns:a16="http://schemas.microsoft.com/office/drawing/2014/main" id="{DD96BEC9-B78C-4047-BDD2-F2574D5F9613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CF425-3517-4DC9-B68A-AC5B618BB00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2">
            <a:extLst>
              <a:ext uri="{FF2B5EF4-FFF2-40B4-BE49-F238E27FC236}">
                <a16:creationId xmlns:a16="http://schemas.microsoft.com/office/drawing/2014/main" id="{32C226D1-030A-40F6-BCD6-14C6A9352B18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Choose a Path: How Does Entertainment Return Value to the Brick?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1598F9-2F5D-4330-AB69-C39FCA134753}"/>
              </a:ext>
            </a:extLst>
          </p:cNvPr>
          <p:cNvSpPr>
            <a:spLocks noGrp="1"/>
          </p:cNvSpPr>
          <p:nvPr/>
        </p:nvSpPr>
        <p:spPr>
          <a:xfrm>
            <a:off x="457200" y="1266825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Each medium has a distinct job. Click a card to jump to its case.</a:t>
            </a:r>
          </a:p>
        </p:txBody>
      </p:sp>
      <p:sp>
        <p:nvSpPr>
          <p:cNvPr id="9" name="media-card-1">
            <a:extLst>
              <a:ext uri="{FF2B5EF4-FFF2-40B4-BE49-F238E27FC236}">
                <a16:creationId xmlns:a16="http://schemas.microsoft.com/office/drawing/2014/main" id="{CA7D94B8-7C1A-41C0-94E5-4CFD78506A8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2533650" cy="2952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5FDAC-D3D0-4EFB-8947-DE851A8D080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2533650" cy="1524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D8CCA-2F12-4369-B7B6-0B1C938F2F66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FILM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50907-ADA3-402F-96AD-FCFC20CF1C52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2152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Turn LEGO play into a mass-cultural event</a:t>
            </a:r>
          </a:p>
        </p:txBody>
      </p:sp>
      <p:sp>
        <p:nvSpPr>
          <p:cNvPr id="13" name="nav-to-05-Explore-FILM-→">
            <a:hlinkClick r:id="rId3" action="ppaction://hlinksldjump"/>
            <a:extLst>
              <a:ext uri="{FF2B5EF4-FFF2-40B4-BE49-F238E27FC236}">
                <a16:creationId xmlns:a16="http://schemas.microsoft.com/office/drawing/2014/main" id="{612AF2D1-6B88-40BA-BAC5-9DCB291868CF}"/>
              </a:ext>
            </a:extLst>
          </p:cNvPr>
          <p:cNvSpPr>
            <a:spLocks noGrp="1"/>
          </p:cNvSpPr>
          <p:nvPr/>
        </p:nvSpPr>
        <p:spPr>
          <a:xfrm>
            <a:off x="647700" y="4267200"/>
            <a:ext cx="2152650" cy="457200"/>
          </a:xfrm>
          <a:prstGeom prst="roundRect">
            <a:avLst>
              <a:gd name="adj" fmla="val 25000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Explore FILM →</a:t>
            </a:r>
          </a:p>
        </p:txBody>
      </p:sp>
      <p:sp>
        <p:nvSpPr>
          <p:cNvPr id="14" name="media-card-2">
            <a:extLst>
              <a:ext uri="{FF2B5EF4-FFF2-40B4-BE49-F238E27FC236}">
                <a16:creationId xmlns:a16="http://schemas.microsoft.com/office/drawing/2014/main" id="{29D1929C-4465-4E40-AD56-94FFCF05A97E}"/>
              </a:ext>
            </a:extLst>
          </p:cNvPr>
          <p:cNvSpPr>
            <a:spLocks noGrp="1"/>
          </p:cNvSpPr>
          <p:nvPr/>
        </p:nvSpPr>
        <p:spPr>
          <a:xfrm>
            <a:off x="3257550" y="2019300"/>
            <a:ext cx="2533650" cy="2952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79CAE-7FD2-4E54-A2FF-2E156E7BEE85}"/>
              </a:ext>
            </a:extLst>
          </p:cNvPr>
          <p:cNvSpPr>
            <a:spLocks noGrp="1"/>
          </p:cNvSpPr>
          <p:nvPr/>
        </p:nvSpPr>
        <p:spPr>
          <a:xfrm>
            <a:off x="3257550" y="2019300"/>
            <a:ext cx="2533650" cy="15240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E3DC12-8A4D-4DA9-947B-7CABBED8EB95}"/>
              </a:ext>
            </a:extLst>
          </p:cNvPr>
          <p:cNvSpPr>
            <a:spLocks noGrp="1"/>
          </p:cNvSpPr>
          <p:nvPr/>
        </p:nvSpPr>
        <p:spPr>
          <a:xfrm>
            <a:off x="3448050" y="2400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TV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7E450E-5973-44E7-A4E0-5EC56584FBE1}"/>
              </a:ext>
            </a:extLst>
          </p:cNvPr>
          <p:cNvSpPr>
            <a:spLocks noGrp="1"/>
          </p:cNvSpPr>
          <p:nvPr/>
        </p:nvSpPr>
        <p:spPr>
          <a:xfrm>
            <a:off x="3448050" y="3067050"/>
            <a:ext cx="2152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Build owned IP through characters and continuity</a:t>
            </a:r>
          </a:p>
        </p:txBody>
      </p:sp>
      <p:sp>
        <p:nvSpPr>
          <p:cNvPr id="18" name="nav-to-06-Explore-TV-→">
            <a:hlinkClick r:id="rId4" action="ppaction://hlinksldjump"/>
            <a:extLst>
              <a:ext uri="{FF2B5EF4-FFF2-40B4-BE49-F238E27FC236}">
                <a16:creationId xmlns:a16="http://schemas.microsoft.com/office/drawing/2014/main" id="{4E57C12D-D0A1-4720-8DA3-AF2C29B59F19}"/>
              </a:ext>
            </a:extLst>
          </p:cNvPr>
          <p:cNvSpPr>
            <a:spLocks noGrp="1"/>
          </p:cNvSpPr>
          <p:nvPr/>
        </p:nvSpPr>
        <p:spPr>
          <a:xfrm>
            <a:off x="3448050" y="4267200"/>
            <a:ext cx="2152650" cy="457200"/>
          </a:xfrm>
          <a:prstGeom prst="roundRect">
            <a:avLst>
              <a:gd name="adj" fmla="val 25000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Explore TV →</a:t>
            </a:r>
          </a:p>
        </p:txBody>
      </p:sp>
      <p:sp>
        <p:nvSpPr>
          <p:cNvPr id="19" name="media-card-3">
            <a:extLst>
              <a:ext uri="{FF2B5EF4-FFF2-40B4-BE49-F238E27FC236}">
                <a16:creationId xmlns:a16="http://schemas.microsoft.com/office/drawing/2014/main" id="{3FB936FC-45D4-4FAF-87DD-13B6A919C855}"/>
              </a:ext>
            </a:extLst>
          </p:cNvPr>
          <p:cNvSpPr>
            <a:spLocks noGrp="1"/>
          </p:cNvSpPr>
          <p:nvPr/>
        </p:nvSpPr>
        <p:spPr>
          <a:xfrm>
            <a:off x="6057900" y="2019300"/>
            <a:ext cx="2533650" cy="2952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2F82A-7D9E-4DAA-A8C4-A8DE20F3FE3D}"/>
              </a:ext>
            </a:extLst>
          </p:cNvPr>
          <p:cNvSpPr>
            <a:spLocks noGrp="1"/>
          </p:cNvSpPr>
          <p:nvPr/>
        </p:nvSpPr>
        <p:spPr>
          <a:xfrm>
            <a:off x="6057900" y="2019300"/>
            <a:ext cx="2533650" cy="152400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EFAF74-59F5-4E7F-B000-ECF8DDB0645A}"/>
              </a:ext>
            </a:extLst>
          </p:cNvPr>
          <p:cNvSpPr>
            <a:spLocks noGrp="1"/>
          </p:cNvSpPr>
          <p:nvPr/>
        </p:nvSpPr>
        <p:spPr>
          <a:xfrm>
            <a:off x="6248400" y="2400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GAMES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D39532-AF26-4708-B7CC-C2D4E7CC759C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152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Let players break, build, and remake worlds</a:t>
            </a:r>
          </a:p>
        </p:txBody>
      </p:sp>
      <p:sp>
        <p:nvSpPr>
          <p:cNvPr id="23" name="nav-to-07-Explore-GAMES-→">
            <a:hlinkClick r:id="rId5" action="ppaction://hlinksldjump"/>
            <a:extLst>
              <a:ext uri="{FF2B5EF4-FFF2-40B4-BE49-F238E27FC236}">
                <a16:creationId xmlns:a16="http://schemas.microsoft.com/office/drawing/2014/main" id="{0B9F6D6C-2FC6-474D-9314-DAFA62CD975D}"/>
              </a:ext>
            </a:extLst>
          </p:cNvPr>
          <p:cNvSpPr>
            <a:spLocks noGrp="1"/>
          </p:cNvSpPr>
          <p:nvPr/>
        </p:nvSpPr>
        <p:spPr>
          <a:xfrm>
            <a:off x="6248400" y="4267200"/>
            <a:ext cx="2152650" cy="457200"/>
          </a:xfrm>
          <a:prstGeom prst="roundRect">
            <a:avLst>
              <a:gd name="adj" fmla="val 25000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Explore GAMES →</a:t>
            </a:r>
          </a:p>
        </p:txBody>
      </p:sp>
      <p:sp>
        <p:nvSpPr>
          <p:cNvPr id="24" name="media-card-4">
            <a:extLst>
              <a:ext uri="{FF2B5EF4-FFF2-40B4-BE49-F238E27FC236}">
                <a16:creationId xmlns:a16="http://schemas.microsoft.com/office/drawing/2014/main" id="{21001C5A-6E81-40D1-8174-516F9DEBE98F}"/>
              </a:ext>
            </a:extLst>
          </p:cNvPr>
          <p:cNvSpPr>
            <a:spLocks noGrp="1"/>
          </p:cNvSpPr>
          <p:nvPr/>
        </p:nvSpPr>
        <p:spPr>
          <a:xfrm>
            <a:off x="8858250" y="2019300"/>
            <a:ext cx="2533650" cy="2952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FB134E-CFFE-491B-815A-D0F6B28392A3}"/>
              </a:ext>
            </a:extLst>
          </p:cNvPr>
          <p:cNvSpPr>
            <a:spLocks noGrp="1"/>
          </p:cNvSpPr>
          <p:nvPr/>
        </p:nvSpPr>
        <p:spPr>
          <a:xfrm>
            <a:off x="8858250" y="2019300"/>
            <a:ext cx="2533650" cy="152400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D5B9F6-F635-4EF2-8781-F902A97867DC}"/>
              </a:ext>
            </a:extLst>
          </p:cNvPr>
          <p:cNvSpPr>
            <a:spLocks noGrp="1"/>
          </p:cNvSpPr>
          <p:nvPr/>
        </p:nvSpPr>
        <p:spPr>
          <a:xfrm>
            <a:off x="9048750" y="2400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8482"/>
          </a:bodyPr>
          <a:lstStyle/>
          <a:p>
            <a:pPr algn="l">
              <a:defRPr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DIGITAL PLATFORMS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6E7CC6-7B27-4517-8F5D-702670047FC4}"/>
              </a:ext>
            </a:extLst>
          </p:cNvPr>
          <p:cNvSpPr>
            <a:spLocks noGrp="1"/>
          </p:cNvSpPr>
          <p:nvPr/>
        </p:nvSpPr>
        <p:spPr>
          <a:xfrm>
            <a:off x="9048750" y="3067050"/>
            <a:ext cx="2152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Convert recurring engagement into sets and insight</a:t>
            </a:r>
          </a:p>
        </p:txBody>
      </p:sp>
      <p:sp>
        <p:nvSpPr>
          <p:cNvPr id="28" name="nav-to-08-Explore-DIGITAL-PLATFORMS-→">
            <a:hlinkClick r:id="rId6" action="ppaction://hlinksldjump"/>
            <a:extLst>
              <a:ext uri="{FF2B5EF4-FFF2-40B4-BE49-F238E27FC236}">
                <a16:creationId xmlns:a16="http://schemas.microsoft.com/office/drawing/2014/main" id="{EC630A48-E0B9-4D9B-BC26-1949D8E04DEC}"/>
              </a:ext>
            </a:extLst>
          </p:cNvPr>
          <p:cNvSpPr>
            <a:spLocks noGrp="1"/>
          </p:cNvSpPr>
          <p:nvPr/>
        </p:nvSpPr>
        <p:spPr>
          <a:xfrm>
            <a:off x="9048750" y="4267200"/>
            <a:ext cx="2152650" cy="45720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80810"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Explore DIGITAL PLATFORMS →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AC4DE6-26BB-4031-A2B6-5DB91A03F4B6}"/>
              </a:ext>
            </a:extLst>
          </p:cNvPr>
          <p:cNvSpPr>
            <a:spLocks noGrp="1"/>
          </p:cNvSpPr>
          <p:nvPr/>
        </p:nvSpPr>
        <p:spPr>
          <a:xfrm>
            <a:off x="1381125" y="5476875"/>
            <a:ext cx="942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6389"/>
          </a:bodyPr>
          <a:lstStyle/>
          <a:p>
            <a:pPr algn="ctr">
              <a:defRPr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question is not whether entertainment can make money. It is whether entertainment strengthens the System in Play.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D518A0-49B7-4BAB-A79F-A825A2CC7C78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Frameworks: resource-based view (VRIO) and related diversification.</a:t>
            </a:r>
          </a:p>
        </p:txBody>
      </p:sp>
    </p:spTree>
    <p:extLst>
      <p:ext uri="{BB962C8B-B14F-4D97-AF65-F5344CB8AC3E}">
        <p14:creationId xmlns:p14="http://schemas.microsoft.com/office/powerpoint/2010/main" val="304534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3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3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8" grpId="0" animBg="1"/>
      <p:bldP spid="23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345E5D8-5B78-4034-BA1B-F904E82B5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0B7F5-C14B-4DA4-80FF-E714007F47B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F021A-DC81-4102-99AF-4B502EF118FA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5EBFF-845E-4AFD-90FB-4F31A79423A7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3">
            <a:extLst>
              <a:ext uri="{FF2B5EF4-FFF2-40B4-BE49-F238E27FC236}">
                <a16:creationId xmlns:a16="http://schemas.microsoft.com/office/drawing/2014/main" id="{CF5ABCFC-0931-41ED-91F3-8184BA8FC970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D3728-B64A-40E7-8789-8A96E0F0CCE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3">
            <a:extLst>
              <a:ext uri="{FF2B5EF4-FFF2-40B4-BE49-F238E27FC236}">
                <a16:creationId xmlns:a16="http://schemas.microsoft.com/office/drawing/2014/main" id="{2BF94327-C9F9-4E42-99C3-18EA89C5B16B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3569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LEGO Did Not Pivot Overnight—it Gradually Translated Play into Worlds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907381"/>
            <a:ext cx="5715000" cy="3214688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DD9630-8375-4647-AE6C-59F02649AC7C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56DFD-5A84-4613-B826-05952CD063A7}"/>
              </a:ext>
            </a:extLst>
          </p:cNvPr>
          <p:cNvSpPr>
            <a:spLocks noGrp="1"/>
          </p:cNvSpPr>
          <p:nvPr/>
        </p:nvSpPr>
        <p:spPr>
          <a:xfrm>
            <a:off x="6943725" y="188595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5E210-E25E-461F-AA83-D522E1896933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1978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569B9-B05F-4D6A-B365-8C2459BD6BA4}"/>
              </a:ext>
            </a:extLst>
          </p:cNvPr>
          <p:cNvSpPr>
            <a:spLocks noGrp="1"/>
          </p:cNvSpPr>
          <p:nvPr/>
        </p:nvSpPr>
        <p:spPr>
          <a:xfrm>
            <a:off x="8191500" y="154305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058"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Minifigure becomes a character canvas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E34943-4BFA-4CBF-8102-FF93E3F9F920}"/>
              </a:ext>
            </a:extLst>
          </p:cNvPr>
          <p:cNvSpPr>
            <a:spLocks noGrp="1"/>
          </p:cNvSpPr>
          <p:nvPr/>
        </p:nvSpPr>
        <p:spPr>
          <a:xfrm>
            <a:off x="6858000" y="23907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16F5D0-0C18-4F2D-98A5-8B27E512DF0B}"/>
              </a:ext>
            </a:extLst>
          </p:cNvPr>
          <p:cNvSpPr>
            <a:spLocks noGrp="1"/>
          </p:cNvSpPr>
          <p:nvPr/>
        </p:nvSpPr>
        <p:spPr>
          <a:xfrm>
            <a:off x="6943725" y="2600325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555B7-07CA-4C60-BD30-8A95E418DC63}"/>
              </a:ext>
            </a:extLst>
          </p:cNvPr>
          <p:cNvSpPr>
            <a:spLocks noGrp="1"/>
          </p:cNvSpPr>
          <p:nvPr/>
        </p:nvSpPr>
        <p:spPr>
          <a:xfrm>
            <a:off x="7239000" y="223837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1995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971DBB-E0D8-45B8-BADB-462193BED240}"/>
              </a:ext>
            </a:extLst>
          </p:cNvPr>
          <p:cNvSpPr>
            <a:spLocks noGrp="1"/>
          </p:cNvSpPr>
          <p:nvPr/>
        </p:nvSpPr>
        <p:spPr>
          <a:xfrm>
            <a:off x="8191500" y="225742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First commercial game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45BE9E-37B2-4156-BBA7-450C8837A497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6E33A4-5206-4CE0-8C23-BFA1112C67D2}"/>
              </a:ext>
            </a:extLst>
          </p:cNvPr>
          <p:cNvSpPr>
            <a:spLocks noGrp="1"/>
          </p:cNvSpPr>
          <p:nvPr/>
        </p:nvSpPr>
        <p:spPr>
          <a:xfrm>
            <a:off x="6943725" y="331470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D4FBA-69A1-4104-A55A-0844D783423C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1999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1894F-3E5C-4056-B927-220F702D496B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Star Wars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2D69FB-7E50-458B-B8E3-643FC1CB298E}"/>
              </a:ext>
            </a:extLst>
          </p:cNvPr>
          <p:cNvSpPr>
            <a:spLocks noGrp="1"/>
          </p:cNvSpPr>
          <p:nvPr/>
        </p:nvSpPr>
        <p:spPr>
          <a:xfrm>
            <a:off x="6858000" y="3819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6C2C3E-E569-4EB5-9F8E-656D62A513D9}"/>
              </a:ext>
            </a:extLst>
          </p:cNvPr>
          <p:cNvSpPr>
            <a:spLocks noGrp="1"/>
          </p:cNvSpPr>
          <p:nvPr/>
        </p:nvSpPr>
        <p:spPr>
          <a:xfrm>
            <a:off x="6943725" y="4029075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C7408-C6B3-4BF4-A70C-4A8155CD847D}"/>
              </a:ext>
            </a:extLst>
          </p:cNvPr>
          <p:cNvSpPr>
            <a:spLocks noGrp="1"/>
          </p:cNvSpPr>
          <p:nvPr/>
        </p:nvSpPr>
        <p:spPr>
          <a:xfrm>
            <a:off x="7239000" y="366712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2011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52D4FB-9CAD-49B6-90D8-AB673A8AD3DC}"/>
              </a:ext>
            </a:extLst>
          </p:cNvPr>
          <p:cNvSpPr>
            <a:spLocks noGrp="1"/>
          </p:cNvSpPr>
          <p:nvPr/>
        </p:nvSpPr>
        <p:spPr>
          <a:xfrm>
            <a:off x="8191500" y="368617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NINJAGO owned universe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49174E-0356-4EB9-9B67-1BA1B6810047}"/>
              </a:ext>
            </a:extLst>
          </p:cNvPr>
          <p:cNvSpPr>
            <a:spLocks noGrp="1"/>
          </p:cNvSpPr>
          <p:nvPr/>
        </p:nvSpPr>
        <p:spPr>
          <a:xfrm>
            <a:off x="6858000" y="4533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E4210A-D417-4218-9BE0-64309AB9BCE5}"/>
              </a:ext>
            </a:extLst>
          </p:cNvPr>
          <p:cNvSpPr>
            <a:spLocks noGrp="1"/>
          </p:cNvSpPr>
          <p:nvPr/>
        </p:nvSpPr>
        <p:spPr>
          <a:xfrm>
            <a:off x="6943725" y="474345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BFE307-3DBC-49E7-88A3-57606C207089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2014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08EB77-52E1-4162-94EC-554DB02E2B55}"/>
              </a:ext>
            </a:extLst>
          </p:cNvPr>
          <p:cNvSpPr>
            <a:spLocks noGrp="1"/>
          </p:cNvSpPr>
          <p:nvPr/>
        </p:nvSpPr>
        <p:spPr>
          <a:xfrm>
            <a:off x="8191500" y="440055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The LEGO Movie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2DED32-C72C-4FC2-993B-5AE47BB685D3}"/>
              </a:ext>
            </a:extLst>
          </p:cNvPr>
          <p:cNvSpPr>
            <a:spLocks noGrp="1"/>
          </p:cNvSpPr>
          <p:nvPr/>
        </p:nvSpPr>
        <p:spPr>
          <a:xfrm>
            <a:off x="6858000" y="524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6A7192-20AF-4264-B85C-E14DF2417D6D}"/>
              </a:ext>
            </a:extLst>
          </p:cNvPr>
          <p:cNvSpPr>
            <a:spLocks noGrp="1"/>
          </p:cNvSpPr>
          <p:nvPr/>
        </p:nvSpPr>
        <p:spPr>
          <a:xfrm>
            <a:off x="7239000" y="509587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D166B9-7E52-4979-9EDC-494F81D98FE9}"/>
              </a:ext>
            </a:extLst>
          </p:cNvPr>
          <p:cNvSpPr>
            <a:spLocks noGrp="1"/>
          </p:cNvSpPr>
          <p:nvPr/>
        </p:nvSpPr>
        <p:spPr>
          <a:xfrm>
            <a:off x="8191500" y="511492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Fortnite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206FF8-EA71-46F2-8DB6-2C96A6FABB4A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Sources: LEGO Group history; Game On: 30 Years of LEGO Video Games (2025).</a:t>
            </a:r>
          </a:p>
        </p:txBody>
      </p:sp>
    </p:spTree>
    <p:extLst>
      <p:ext uri="{BB962C8B-B14F-4D97-AF65-F5344CB8AC3E}">
        <p14:creationId xmlns:p14="http://schemas.microsoft.com/office/powerpoint/2010/main" val="1115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DCA632-21A8-4161-9543-B061944DB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75C6B7-0DB6-42F0-9782-BA378436D27B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A4FF7-171E-4FEB-AFF2-EECB9E29E0D3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BFC9B-AAA0-4958-A681-482AA2932F20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4">
            <a:extLst>
              <a:ext uri="{FF2B5EF4-FFF2-40B4-BE49-F238E27FC236}">
                <a16:creationId xmlns:a16="http://schemas.microsoft.com/office/drawing/2014/main" id="{7102CABF-AA05-43AD-92AB-DB3E86B3A2E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63A78-3506-4DE6-A7E6-7F186E63FF9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4">
            <a:extLst>
              <a:ext uri="{FF2B5EF4-FFF2-40B4-BE49-F238E27FC236}">
                <a16:creationId xmlns:a16="http://schemas.microsoft.com/office/drawing/2014/main" id="{0FCC979E-71DE-43F0-AB7E-9B9D2FE93D26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Entertainment Creates the Most Value When Stories Become Buildable Play Again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E6598F-0B07-4132-BB29-0C0072353E56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CHARACTERS &amp; WORLDS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80CE5A-84CD-4EE4-995D-22372816E1AD}"/>
              </a:ext>
            </a:extLst>
          </p:cNvPr>
          <p:cNvSpPr>
            <a:spLocks noGrp="1"/>
          </p:cNvSpPr>
          <p:nvPr/>
        </p:nvSpPr>
        <p:spPr>
          <a:xfrm>
            <a:off x="3714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FILM / TV / GAMES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D7F166-6C93-4BB2-9AAD-1208A56DC91D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REACH &amp; ENGAGEMENT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DCF124-C3CB-4BBD-B70F-157DD7B9A29C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PHYSICAL SETS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86F64F-962C-4841-8C4D-F6AA298F153F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PLAYERS REMAKE STORIES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491A49-4A0D-4EED-A10D-9FE670637D2D}"/>
              </a:ext>
            </a:extLst>
          </p:cNvPr>
          <p:cNvSpPr>
            <a:spLocks noGrp="1"/>
          </p:cNvSpPr>
          <p:nvPr/>
        </p:nvSpPr>
        <p:spPr>
          <a:xfrm>
            <a:off x="371475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NEW DEMAND &amp; IDEAS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E395C-A3A6-4322-9788-62270A33AACB}"/>
              </a:ext>
            </a:extLst>
          </p:cNvPr>
          <p:cNvSpPr>
            <a:spLocks noGrp="1"/>
          </p:cNvSpPr>
          <p:nvPr/>
        </p:nvSpPr>
        <p:spPr>
          <a:xfrm>
            <a:off x="3067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7B786D-2828-4E17-8440-95346CBEC6EB}"/>
              </a:ext>
            </a:extLst>
          </p:cNvPr>
          <p:cNvSpPr>
            <a:spLocks noGrp="1"/>
          </p:cNvSpPr>
          <p:nvPr/>
        </p:nvSpPr>
        <p:spPr>
          <a:xfrm>
            <a:off x="5734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81A28-5F18-4018-95F5-C90377F3E5E7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2FD2D-827D-4BED-A375-12CEF48FE6E5}"/>
              </a:ext>
            </a:extLst>
          </p:cNvPr>
          <p:cNvSpPr>
            <a:spLocks noGrp="1"/>
          </p:cNvSpPr>
          <p:nvPr/>
        </p:nvSpPr>
        <p:spPr>
          <a:xfrm>
            <a:off x="998220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C51E1-14DD-474C-95F1-562E26C32E6D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49CB9-CCA3-4C99-9EE4-9EF49E38D303}"/>
              </a:ext>
            </a:extLst>
          </p:cNvPr>
          <p:cNvSpPr>
            <a:spLocks noGrp="1"/>
          </p:cNvSpPr>
          <p:nvPr/>
        </p:nvSpPr>
        <p:spPr>
          <a:xfrm>
            <a:off x="5734050" y="44481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BB3D31-5AA2-4EA9-B09F-5721536B09A3}"/>
              </a:ext>
            </a:extLst>
          </p:cNvPr>
          <p:cNvSpPr>
            <a:spLocks noGrp="1"/>
          </p:cNvSpPr>
          <p:nvPr/>
        </p:nvSpPr>
        <p:spPr>
          <a:xfrm>
            <a:off x="3067050" y="4448175"/>
            <a:ext cx="55245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AEAB4-0C24-4BB1-8E63-0961C0FD35F8}"/>
              </a:ext>
            </a:extLst>
          </p:cNvPr>
          <p:cNvSpPr>
            <a:spLocks noGrp="1"/>
          </p:cNvSpPr>
          <p:nvPr/>
        </p:nvSpPr>
        <p:spPr>
          <a:xfrm>
            <a:off x="203835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F4B0A-7691-416F-BB89-E5EE060F2E76}"/>
              </a:ext>
            </a:extLst>
          </p:cNvPr>
          <p:cNvSpPr>
            <a:spLocks noGrp="1"/>
          </p:cNvSpPr>
          <p:nvPr/>
        </p:nvSpPr>
        <p:spPr>
          <a:xfrm>
            <a:off x="5000625" y="283845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 fontScale="94081"/>
          </a:bodyPr>
          <a:lstStyle/>
          <a:p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LOOP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10E29-FC44-400E-A480-F54317F3D9DF}"/>
              </a:ext>
            </a:extLst>
          </p:cNvPr>
          <p:cNvSpPr>
            <a:spLocks noGrp="1"/>
          </p:cNvSpPr>
          <p:nvPr/>
        </p:nvSpPr>
        <p:spPr>
          <a:xfrm>
            <a:off x="1905000" y="5476875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0402"/>
          </a:bodyPr>
          <a:lstStyle/>
          <a:p>
            <a:pPr algn="ctr">
              <a:defRPr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Related diversification passes only when it shares core resources and returns new value to physical play.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DDE893-0F0A-40AE-A93F-20E012DFAAAB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Strategic interpretation: a related-diversification loop built on LEGO's System in Play.</a:t>
            </a:r>
          </a:p>
        </p:txBody>
      </p:sp>
    </p:spTree>
    <p:extLst>
      <p:ext uri="{BB962C8B-B14F-4D97-AF65-F5344CB8AC3E}">
        <p14:creationId xmlns:p14="http://schemas.microsoft.com/office/powerpoint/2010/main" val="147424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654056-E925-4741-BC1C-0A0C10CF6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0275DF-4D08-4BD8-9899-F7B145DBA654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58F73-B973-4B1B-B0A4-C9B1748D67E6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2EC95-17F9-4B90-927C-850624B0BCE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5">
            <a:extLst>
              <a:ext uri="{FF2B5EF4-FFF2-40B4-BE49-F238E27FC236}">
                <a16:creationId xmlns:a16="http://schemas.microsoft.com/office/drawing/2014/main" id="{DAD75D77-D063-4246-9111-92C6E9581591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B089B0-3836-4432-B566-664EE2EE335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5">
            <a:extLst>
              <a:ext uri="{FF2B5EF4-FFF2-40B4-BE49-F238E27FC236}">
                <a16:creationId xmlns:a16="http://schemas.microsoft.com/office/drawing/2014/main" id="{257BDB82-A770-4CF8-9F77-1E3EAF425AAE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Film Makes LEGO's Building Grammar Mass Culture—but Production Should Stay Partner-Led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18445" r="18445"/>
          <a:stretch>
            <a:fillRect/>
          </a:stretch>
        </p:blipFill>
        <p:spPr>
          <a:xfrm>
            <a:off x="457200" y="1428750"/>
            <a:ext cx="6191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BC1BBA-45E5-4F52-9C51-C723F83AD382}"/>
              </a:ext>
            </a:extLst>
          </p:cNvPr>
          <p:cNvSpPr>
            <a:spLocks noGrp="1"/>
          </p:cNvSpPr>
          <p:nvPr/>
        </p:nvSpPr>
        <p:spPr>
          <a:xfrm>
            <a:off x="7143750" y="1581150"/>
            <a:ext cx="3905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≈ $1.1B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E589D3-15CC-4C46-8198-2618B13F6CAF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Cumulative worldwide box office of LEGO films by 2020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F73BD0-E337-4B6E-8648-46D0424D8DCD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Film creates more than a toy commercial: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85DFA8-AA48-4705-A2CC-0B5AA3DED588}"/>
              </a:ext>
            </a:extLst>
          </p:cNvPr>
          <p:cNvSpPr>
            <a:spLocks noGrp="1"/>
          </p:cNvSpPr>
          <p:nvPr/>
        </p:nvSpPr>
        <p:spPr>
          <a:xfrm>
            <a:off x="7143750" y="3219450"/>
            <a:ext cx="4191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Recognizable characters: Emmet, Wyldstyle, and more</a:t>
            </a:r>
          </a:p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A reusable voice: humor, rebuilding, rule-breaking</a:t>
            </a:r>
          </a:p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Brand meaning: any world can become LEGO play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CDE40-268B-4748-8E95-C8B648B58310}"/>
              </a:ext>
            </a:extLst>
          </p:cNvPr>
          <p:cNvSpPr>
            <a:spLocks noGrp="1"/>
          </p:cNvSpPr>
          <p:nvPr/>
        </p:nvSpPr>
        <p:spPr>
          <a:xfrm>
            <a:off x="7048500" y="4953000"/>
            <a:ext cx="4381500" cy="609600"/>
          </a:xfrm>
          <a:prstGeom prst="roundRect">
            <a:avLst>
              <a:gd name="adj" fmla="val 18750"/>
            </a:avLst>
          </a:prstGeom>
          <a:solidFill>
            <a:srgbClr val="161616"/>
          </a:solidFill>
          <a:ln w="0">
            <a:noFill/>
            <a:prstDash val="solid"/>
          </a:ln>
        </p:spPr>
        <p:txBody>
          <a:bodyPr lIns="38100" tIns="38100" rIns="38100" bIns="38100" anchor="t">
            <a:normAutofit fontScale="75572"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Conclusion: LEGO should own the creative standards and product loop, while studios absorb production and distribution volatility.</a:t>
            </a:r>
          </a:p>
        </p:txBody>
      </p:sp>
      <p:sp>
        <p:nvSpPr>
          <p:cNvPr id="14" name="nav-to-02-←-Back-to-Media-Map">
            <a:hlinkClick r:id="rId4" action="ppaction://hlinksldjump"/>
            <a:extLst>
              <a:ext uri="{FF2B5EF4-FFF2-40B4-BE49-F238E27FC236}">
                <a16:creationId xmlns:a16="http://schemas.microsoft.com/office/drawing/2014/main" id="{3DDC1BB4-CDCE-4CF1-885F-0E1792E99C2D}"/>
              </a:ext>
            </a:extLst>
          </p:cNvPr>
          <p:cNvSpPr>
            <a:spLocks noGrp="1"/>
          </p:cNvSpPr>
          <p:nvPr/>
        </p:nvSpPr>
        <p:spPr>
          <a:xfrm>
            <a:off x="9620250" y="5905500"/>
            <a:ext cx="180975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Media 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A55C30-CC50-4712-9F8C-C049F6325FC9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Universal Pictures and LEGO Group five-year exclusive film partnership announcement (2020).</a:t>
            </a:r>
          </a:p>
        </p:txBody>
      </p:sp>
    </p:spTree>
    <p:extLst>
      <p:ext uri="{BB962C8B-B14F-4D97-AF65-F5344CB8AC3E}">
        <p14:creationId xmlns:p14="http://schemas.microsoft.com/office/powerpoint/2010/main" val="1741970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0E4F46A-C10E-4705-BEB9-E67B9A935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BBD9E-E898-44D8-BFF8-DBE7524A443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A2E6E-A0A4-4728-8D6B-5A33026AE49C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2437BC-B661-436E-B671-72AC9781A7E1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6">
            <a:extLst>
              <a:ext uri="{FF2B5EF4-FFF2-40B4-BE49-F238E27FC236}">
                <a16:creationId xmlns:a16="http://schemas.microsoft.com/office/drawing/2014/main" id="{F0CEFAF4-E7AB-4F41-A560-649536077A26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01413-16AE-4F25-9539-58239D35EEF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6">
            <a:extLst>
              <a:ext uri="{FF2B5EF4-FFF2-40B4-BE49-F238E27FC236}">
                <a16:creationId xmlns:a16="http://schemas.microsoft.com/office/drawing/2014/main" id="{7BA69E2D-9D87-4F5F-84FB-9DCBC6683913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878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NINJAGO Turned Character Continuity into a 15-Year Evergreen Asset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15326" r="15326"/>
          <a:stretch>
            <a:fillRect/>
          </a:stretch>
        </p:blipFill>
        <p:spPr>
          <a:xfrm>
            <a:off x="457200" y="1428750"/>
            <a:ext cx="5334000" cy="4095750"/>
          </a:xfrm>
          <a:prstGeom prst="roundRect">
            <a:avLst>
              <a:gd name="adj" fmla="val 2791"/>
            </a:avLst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t="11223" b="11223"/>
          <a:stretch>
            <a:fillRect/>
          </a:stretch>
        </p:blipFill>
        <p:spPr>
          <a:xfrm>
            <a:off x="6000750" y="1428750"/>
            <a:ext cx="5715000" cy="2476500"/>
          </a:xfrm>
          <a:prstGeom prst="roundRect">
            <a:avLst>
              <a:gd name="adj" fmla="val 4615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DA5C91-D8D6-4ECA-9466-E67462CBE601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500+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9B102-37E4-4706-A987-BA205DC183FC}"/>
              </a:ext>
            </a:extLst>
          </p:cNvPr>
          <p:cNvSpPr>
            <a:spLocks noGrp="1"/>
          </p:cNvSpPr>
          <p:nvPr/>
        </p:nvSpPr>
        <p:spPr>
          <a:xfrm>
            <a:off x="6191250" y="4714875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SETS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3959E9-B650-4A1F-AE02-651489DAD0A3}"/>
              </a:ext>
            </a:extLst>
          </p:cNvPr>
          <p:cNvSpPr>
            <a:spLocks noGrp="1"/>
          </p:cNvSpPr>
          <p:nvPr/>
        </p:nvSpPr>
        <p:spPr>
          <a:xfrm>
            <a:off x="8001000" y="4143375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200+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8783C-D016-49A4-ACAD-CA4F72C45994}"/>
              </a:ext>
            </a:extLst>
          </p:cNvPr>
          <p:cNvSpPr>
            <a:spLocks noGrp="1"/>
          </p:cNvSpPr>
          <p:nvPr/>
        </p:nvSpPr>
        <p:spPr>
          <a:xfrm>
            <a:off x="8001000" y="47148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TV EPISODES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0C974-A44C-4D57-A880-84A5E01AB58B}"/>
              </a:ext>
            </a:extLst>
          </p:cNvPr>
          <p:cNvSpPr>
            <a:spLocks noGrp="1"/>
          </p:cNvSpPr>
          <p:nvPr/>
        </p:nvSpPr>
        <p:spPr>
          <a:xfrm>
            <a:off x="9906000" y="41433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8522"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15 YEARS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373EF4-2693-4D5C-B6A9-E8E70B462EB8}"/>
              </a:ext>
            </a:extLst>
          </p:cNvPr>
          <p:cNvSpPr>
            <a:spLocks noGrp="1"/>
          </p:cNvSpPr>
          <p:nvPr/>
        </p:nvSpPr>
        <p:spPr>
          <a:xfrm>
            <a:off x="9906000" y="47148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OWNED ENTERTAINMENT 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CAA81-EF16-4ED3-8504-17766864FA7C}"/>
              </a:ext>
            </a:extLst>
          </p:cNvPr>
          <p:cNvSpPr>
            <a:spLocks noGrp="1"/>
          </p:cNvSpPr>
          <p:nvPr/>
        </p:nvSpPr>
        <p:spPr>
          <a:xfrm>
            <a:off x="6096000" y="5429250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442"/>
          </a:bodyPr>
          <a:lstStyle/>
          <a:p>
            <a:pPr algn="l">
              <a:defRPr sz="1350" b="0">
                <a:solidFill>
                  <a:srgbClr val="D5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5D9E2"/>
                </a:solidFill>
                <a:latin typeface="Microsoft YaHei"/>
                <a:ea typeface="Microsoft YaHei"/>
                <a:cs typeface="Microsoft YaHei"/>
              </a:rPr>
              <a:t>TV is not a one-off exposure. It is the operating rhythm for character growth, new villains, world expansion, and recurring set design.</a:t>
            </a:r>
          </a:p>
        </p:txBody>
      </p:sp>
      <p:sp>
        <p:nvSpPr>
          <p:cNvPr id="17" name="nav-to-02-←-Back-to-Media-Map">
            <a:hlinkClick r:id="rId5" action="ppaction://hlinksldjump"/>
            <a:extLst>
              <a:ext uri="{FF2B5EF4-FFF2-40B4-BE49-F238E27FC236}">
                <a16:creationId xmlns:a16="http://schemas.microsoft.com/office/drawing/2014/main" id="{C63B7982-9ACA-4477-A917-121D68D17200}"/>
              </a:ext>
            </a:extLst>
          </p:cNvPr>
          <p:cNvSpPr>
            <a:spLocks noGrp="1"/>
          </p:cNvSpPr>
          <p:nvPr/>
        </p:nvSpPr>
        <p:spPr>
          <a:xfrm>
            <a:off x="9667875" y="6076950"/>
            <a:ext cx="1857375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Media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A8406-CA85-4035-993C-1EA1F08786E5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Source: LEGO NINJAGO 15th Anniversary announcement (2026): longest-running homegrown IP; 500+ sets and 200+ episodes.</a:t>
            </a:r>
          </a:p>
        </p:txBody>
      </p:sp>
    </p:spTree>
    <p:extLst>
      <p:ext uri="{BB962C8B-B14F-4D97-AF65-F5344CB8AC3E}">
        <p14:creationId xmlns:p14="http://schemas.microsoft.com/office/powerpoint/2010/main" val="119602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A59529-8DF6-468C-BD4D-B79283947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6D651-EF90-471C-A178-4B30A410BC14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56B98-2090-47A6-808A-4AE52808F241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83515-70C9-4367-88C4-F9EE241FDDAE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7">
            <a:extLst>
              <a:ext uri="{FF2B5EF4-FFF2-40B4-BE49-F238E27FC236}">
                <a16:creationId xmlns:a16="http://schemas.microsoft.com/office/drawing/2014/main" id="{BE5FF3BC-686E-4EC4-B366-0BB8817F06A2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C9709-C20A-4FE4-A258-697EE56F8FD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7">
            <a:extLst>
              <a:ext uri="{FF2B5EF4-FFF2-40B4-BE49-F238E27FC236}">
                <a16:creationId xmlns:a16="http://schemas.microsoft.com/office/drawing/2014/main" id="{A9C2BF57-5A46-47CF-A628-56C3E5D59D7B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913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Games Turn Audiences into Players—LEGO's Edge Is Translation, Not AAA Production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 l="24491" r="24491"/>
          <a:stretch>
            <a:fillRect/>
          </a:stretch>
        </p:blipFill>
        <p:spPr>
          <a:xfrm>
            <a:off x="457200" y="1428750"/>
            <a:ext cx="3714750" cy="4095750"/>
          </a:xfrm>
          <a:prstGeom prst="roundRect">
            <a:avLst>
              <a:gd name="adj" fmla="val 3077"/>
            </a:avLst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rcRect t="751" b="751"/>
          <a:stretch>
            <a:fillRect/>
          </a:stretch>
        </p:blipFill>
        <p:spPr>
          <a:xfrm>
            <a:off x="4476750" y="1428750"/>
            <a:ext cx="3524250" cy="1952625"/>
          </a:xfrm>
          <a:prstGeom prst="roundRect">
            <a:avLst>
              <a:gd name="adj" fmla="val 5854"/>
            </a:avLst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rcRect t="751" b="751"/>
          <a:stretch>
            <a:fillRect/>
          </a:stretch>
        </p:blipFill>
        <p:spPr>
          <a:xfrm>
            <a:off x="8191500" y="1428750"/>
            <a:ext cx="3524250" cy="1952625"/>
          </a:xfrm>
          <a:prstGeom prst="roundRect">
            <a:avLst>
              <a:gd name="adj" fmla="val 5854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07A39B-8C21-4410-A412-E4A90D7F4B23}"/>
              </a:ext>
            </a:extLst>
          </p:cNvPr>
          <p:cNvSpPr>
            <a:spLocks noGrp="1"/>
          </p:cNvSpPr>
          <p:nvPr/>
        </p:nvSpPr>
        <p:spPr>
          <a:xfrm>
            <a:off x="4619625" y="3857625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200+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2AFF7-A258-4682-8BCC-47682AF0AE87}"/>
              </a:ext>
            </a:extLst>
          </p:cNvPr>
          <p:cNvSpPr>
            <a:spLocks noGrp="1"/>
          </p:cNvSpPr>
          <p:nvPr/>
        </p:nvSpPr>
        <p:spPr>
          <a:xfrm>
            <a:off x="4619625" y="4429125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GAME TITLES SINCE 1995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7A87E4-AE81-4FF0-A781-9D99AFE8C772}"/>
              </a:ext>
            </a:extLst>
          </p:cNvPr>
          <p:cNvSpPr>
            <a:spLocks noGrp="1"/>
          </p:cNvSpPr>
          <p:nvPr/>
        </p:nvSpPr>
        <p:spPr>
          <a:xfrm>
            <a:off x="7239000" y="40005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184"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TRANSFERABLE PLAY GRAMMAR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53BBF5-A4A0-456D-A5F1-A59CC9AC0FE4}"/>
              </a:ext>
            </a:extLst>
          </p:cNvPr>
          <p:cNvSpPr>
            <a:spLocks noGrp="1"/>
          </p:cNvSpPr>
          <p:nvPr/>
        </p:nvSpPr>
        <p:spPr>
          <a:xfrm>
            <a:off x="7239000" y="4457700"/>
            <a:ext cx="4191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228"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BREAK → COLLECT → BUILD → COOPERATE → COMEDIC REMIX</a:t>
            </a:r>
          </a:p>
          <a:p>
            <a:endParaRPr sz="1425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This grammar is harder to copy than any single engine or studio.</a:t>
            </a:r>
          </a:p>
        </p:txBody>
      </p:sp>
      <p:sp>
        <p:nvSpPr>
          <p:cNvPr id="15" name="nav-to-02-←-Back-to-Media-Map">
            <a:hlinkClick r:id="rId6" action="ppaction://hlinksldjump"/>
            <a:extLst>
              <a:ext uri="{FF2B5EF4-FFF2-40B4-BE49-F238E27FC236}">
                <a16:creationId xmlns:a16="http://schemas.microsoft.com/office/drawing/2014/main" id="{97E72C6F-3B81-48C5-B508-261E012488A6}"/>
              </a:ext>
            </a:extLst>
          </p:cNvPr>
          <p:cNvSpPr>
            <a:spLocks noGrp="1"/>
          </p:cNvSpPr>
          <p:nvPr/>
        </p:nvSpPr>
        <p:spPr>
          <a:xfrm>
            <a:off x="9620250" y="5905500"/>
            <a:ext cx="180975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Media 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37ADCD-CC9E-40CA-AC97-C6DA98B2C7CD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Game On: 30 Years of LEGO Video Games (LEGO Group, 2025).</a:t>
            </a:r>
          </a:p>
        </p:txBody>
      </p:sp>
    </p:spTree>
    <p:extLst>
      <p:ext uri="{BB962C8B-B14F-4D97-AF65-F5344CB8AC3E}">
        <p14:creationId xmlns:p14="http://schemas.microsoft.com/office/powerpoint/2010/main" val="1458327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80647D-A696-4004-A5C6-9DACDD7CEB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F4414-19CC-445A-9ECD-AEE53E8EB1DF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A6E18-EBEF-401E-A6A4-899B567644D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4A940-D2EA-4B69-B9D6-BDB6415B5BE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8">
            <a:extLst>
              <a:ext uri="{FF2B5EF4-FFF2-40B4-BE49-F238E27FC236}">
                <a16:creationId xmlns:a16="http://schemas.microsoft.com/office/drawing/2014/main" id="{AC6B284F-704A-4A52-A185-FE340079B644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99D0C-3544-4150-B9F1-07C3ED08DF3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8">
            <a:extLst>
              <a:ext uri="{FF2B5EF4-FFF2-40B4-BE49-F238E27FC236}">
                <a16:creationId xmlns:a16="http://schemas.microsoft.com/office/drawing/2014/main" id="{864E6909-D852-443D-A8B3-4A4BC0B53979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Digital Platforms Turn One-Off Content into Persistent Worlds—and Feed Demand Back to Sets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1786" r="1786"/>
          <a:stretch>
            <a:fillRect/>
          </a:stretch>
        </p:blipFill>
        <p:spPr>
          <a:xfrm>
            <a:off x="457200" y="1428750"/>
            <a:ext cx="6858000" cy="4000500"/>
          </a:xfrm>
          <a:prstGeom prst="roundRect">
            <a:avLst>
              <a:gd name="adj" fmla="val 2857"/>
            </a:avLst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rcRect t="16570" b="16570"/>
          <a:stretch>
            <a:fillRect/>
          </a:stretch>
        </p:blipFill>
        <p:spPr>
          <a:xfrm>
            <a:off x="7620000" y="1428750"/>
            <a:ext cx="409575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BD18F6-3377-4D5D-AB0C-C996DB21A5A8}"/>
              </a:ext>
            </a:extLst>
          </p:cNvPr>
          <p:cNvSpPr>
            <a:spLocks noGrp="1"/>
          </p:cNvSpPr>
          <p:nvPr/>
        </p:nvSpPr>
        <p:spPr>
          <a:xfrm>
            <a:off x="7639050" y="39052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5634"/>
          </a:bodyPr>
          <a:lstStyle/>
          <a:p>
            <a:pPr algn="l">
              <a:defRPr sz="1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ON SCREEN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C8E76-B264-47B3-AB7D-A301EB8A3348}"/>
              </a:ext>
            </a:extLst>
          </p:cNvPr>
          <p:cNvSpPr>
            <a:spLocks noGrp="1"/>
          </p:cNvSpPr>
          <p:nvPr/>
        </p:nvSpPr>
        <p:spPr>
          <a:xfrm>
            <a:off x="7639050" y="42862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rPr>
              <a:t>Open worlds, creator islands, live updates, millions of participants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CD01FF-C93B-452E-A0CF-135F0E236E23}"/>
              </a:ext>
            </a:extLst>
          </p:cNvPr>
          <p:cNvSpPr>
            <a:spLocks noGrp="1"/>
          </p:cNvSpPr>
          <p:nvPr/>
        </p:nvSpPr>
        <p:spPr>
          <a:xfrm>
            <a:off x="7639050" y="49530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157"/>
          </a:bodyPr>
          <a:lstStyle/>
          <a:p>
            <a:pPr algn="l">
              <a:defRPr sz="16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OFF SCREEN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97BE2-D332-43C1-AE5E-EBE5FA62FF4E}"/>
              </a:ext>
            </a:extLst>
          </p:cNvPr>
          <p:cNvSpPr>
            <a:spLocks noGrp="1"/>
          </p:cNvSpPr>
          <p:nvPr/>
        </p:nvSpPr>
        <p:spPr>
          <a:xfrm>
            <a:off x="7639050" y="53340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rPr>
              <a:t>Characters, places, and items become physical sets; selected sets unlock digital rewards</a:t>
            </a:r>
          </a:p>
        </p:txBody>
      </p:sp>
      <p:sp>
        <p:nvSpPr>
          <p:cNvPr id="14" name="nav-to-02-←-Back-to-Media-Map">
            <a:hlinkClick r:id="rId5" action="ppaction://hlinksldjump"/>
            <a:extLst>
              <a:ext uri="{FF2B5EF4-FFF2-40B4-BE49-F238E27FC236}">
                <a16:creationId xmlns:a16="http://schemas.microsoft.com/office/drawing/2014/main" id="{EFBD4EC5-35DE-45FB-B130-87C168FBDBD5}"/>
              </a:ext>
            </a:extLst>
          </p:cNvPr>
          <p:cNvSpPr>
            <a:spLocks noGrp="1"/>
          </p:cNvSpPr>
          <p:nvPr/>
        </p:nvSpPr>
        <p:spPr>
          <a:xfrm>
            <a:off x="9620250" y="6076950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1997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Media 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5F7E2-8A83-4F22-A0E4-551AA1508EC1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Sources: LEGO Fortnite releases (2023–2025); LEGO Group Annual Report 2025.</a:t>
            </a:r>
          </a:p>
        </p:txBody>
      </p:sp>
    </p:spTree>
    <p:extLst>
      <p:ext uri="{BB962C8B-B14F-4D97-AF65-F5344CB8AC3E}">
        <p14:creationId xmlns:p14="http://schemas.microsoft.com/office/powerpoint/2010/main" val="1028885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5AAB308-BDB3-4357-9E01-C91A471EED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414AF9-D719-409E-9E73-9A9FB520ABEB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C59787-5780-49D5-A6A8-9E510BC3871B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E666B-5088-4B2C-AB76-06BF8AF05DF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9">
            <a:extLst>
              <a:ext uri="{FF2B5EF4-FFF2-40B4-BE49-F238E27FC236}">
                <a16:creationId xmlns:a16="http://schemas.microsoft.com/office/drawing/2014/main" id="{A13FCF76-436C-431D-9636-A5A91C1B44CC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2FEC3-C5C1-47A5-914E-C2D5F3074D8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9">
            <a:extLst>
              <a:ext uri="{FF2B5EF4-FFF2-40B4-BE49-F238E27FC236}">
                <a16:creationId xmlns:a16="http://schemas.microsoft.com/office/drawing/2014/main" id="{3BF88695-11C1-4208-8C7F-0C0A8107634F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3037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Four Media Are Not Duplicate Bets—they Form an IP Production System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C26654-BCA4-4E42-818C-5496B2E66228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155F6-1937-4CFB-98FE-C0C7443EA6EF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2533650" cy="17145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D3612-6D5A-43B8-BF2A-7779A638AD14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FILM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8318E1-9CFB-40DF-9138-07477668659D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BURST REACH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A6BE4-2970-4508-9ED7-C4D26C339D10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Turns play into culture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08BE1E-399E-4D5E-A342-680B363300C4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REACH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66970F-6C95-4A89-AE0E-C4FB3837CBA0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21773B-A9D9-4B3F-9A7B-7C3575DFCC88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533650" cy="17145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F37238-32EC-45C7-BF3C-E8BF348FE54E}"/>
              </a:ext>
            </a:extLst>
          </p:cNvPr>
          <p:cNvSpPr>
            <a:spLocks noGrp="1"/>
          </p:cNvSpPr>
          <p:nvPr/>
        </p:nvSpPr>
        <p:spPr>
          <a:xfrm>
            <a:off x="342900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TV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55B75E-8C80-4F66-A4AC-31673B4A077E}"/>
              </a:ext>
            </a:extLst>
          </p:cNvPr>
          <p:cNvSpPr>
            <a:spLocks noGrp="1"/>
          </p:cNvSpPr>
          <p:nvPr/>
        </p:nvSpPr>
        <p:spPr>
          <a:xfrm>
            <a:off x="342900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CONTINUITY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CD92C-D204-4167-A709-55389B7FEA5B}"/>
              </a:ext>
            </a:extLst>
          </p:cNvPr>
          <p:cNvSpPr>
            <a:spLocks noGrp="1"/>
          </p:cNvSpPr>
          <p:nvPr/>
        </p:nvSpPr>
        <p:spPr>
          <a:xfrm>
            <a:off x="342900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Lets characters and worlds compound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67B13C-1191-4BBC-8774-9F661A933806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CONTINUITY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B70972-3402-4A5C-B5DF-A7BFBD7EDBC6}"/>
              </a:ext>
            </a:extLst>
          </p:cNvPr>
          <p:cNvSpPr>
            <a:spLocks noGrp="1"/>
          </p:cNvSpPr>
          <p:nvPr/>
        </p:nvSpPr>
        <p:spPr>
          <a:xfrm>
            <a:off x="605790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4DB40F-F665-4D16-A6BE-34E842371E22}"/>
              </a:ext>
            </a:extLst>
          </p:cNvPr>
          <p:cNvSpPr>
            <a:spLocks noGrp="1"/>
          </p:cNvSpPr>
          <p:nvPr/>
        </p:nvSpPr>
        <p:spPr>
          <a:xfrm>
            <a:off x="6057900" y="1666875"/>
            <a:ext cx="2533650" cy="171450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28A79D-89CC-40F2-B5CE-F404FDE5630E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GAMES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4BD6C6-1714-4824-81B7-5423EA367406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AGENCY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709B2D-DF2E-4F23-84E3-839C9230C4BD}"/>
              </a:ext>
            </a:extLst>
          </p:cNvPr>
          <p:cNvSpPr>
            <a:spLocks noGrp="1"/>
          </p:cNvSpPr>
          <p:nvPr/>
        </p:nvSpPr>
        <p:spPr>
          <a:xfrm>
            <a:off x="622935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Lets players remake the world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992050-27A4-46F3-84BF-0A86B8BA1CDC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AGENCY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B3E5A5-D37D-4AAA-BB5B-C5A1224A48ED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3268C6-1048-4E07-929B-6471C3FF0203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533650" cy="171450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AB3489-6DB8-475F-8D34-B90DA22FC8EC}"/>
              </a:ext>
            </a:extLst>
          </p:cNvPr>
          <p:cNvSpPr>
            <a:spLocks noGrp="1"/>
          </p:cNvSpPr>
          <p:nvPr/>
        </p:nvSpPr>
        <p:spPr>
          <a:xfrm>
            <a:off x="902970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8836"/>
          </a:bodyPr>
          <a:lstStyle/>
          <a:p>
            <a:pPr algn="l">
              <a:defRPr sz="21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DIGITAL PLATFORMS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9A016F-06B0-43BD-8679-4CDE52ADA4CE}"/>
              </a:ext>
            </a:extLst>
          </p:cNvPr>
          <p:cNvSpPr>
            <a:spLocks noGrp="1"/>
          </p:cNvSpPr>
          <p:nvPr/>
        </p:nvSpPr>
        <p:spPr>
          <a:xfrm>
            <a:off x="902970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RECURRENCE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FD6FD-21B3-4294-B9A4-3039BF0B5ABD}"/>
              </a:ext>
            </a:extLst>
          </p:cNvPr>
          <p:cNvSpPr>
            <a:spLocks noGrp="1"/>
          </p:cNvSpPr>
          <p:nvPr/>
        </p:nvSpPr>
        <p:spPr>
          <a:xfrm>
            <a:off x="902970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Connects content, community, data, and products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2D9667-2A39-4E8D-B7F6-90BDB2152523}"/>
              </a:ext>
            </a:extLst>
          </p:cNvPr>
          <p:cNvSpPr>
            <a:spLocks noGrp="1"/>
          </p:cNvSpPr>
          <p:nvPr/>
        </p:nvSpPr>
        <p:spPr>
          <a:xfrm>
            <a:off x="902970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RECURRENCE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9FFEFD-1B22-4FA7-95D8-2097C9936E1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6087"/>
          </a:bodyPr>
          <a:lstStyle/>
          <a:p>
            <a:pPr algn="ctr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Portfolio logic: film creates peaks, TV compounds relationships, games create agency, and platforms sustain the loop.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9FC68F-A1EF-4795-B2D2-ADA9E93BBDB7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Synthesis: the complementary role of four media in LEGO's IP system.</a:t>
            </a:r>
          </a:p>
        </p:txBody>
      </p:sp>
    </p:spTree>
    <p:extLst>
      <p:ext uri="{BB962C8B-B14F-4D97-AF65-F5344CB8AC3E}">
        <p14:creationId xmlns:p14="http://schemas.microsoft.com/office/powerpoint/2010/main" val="954273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B10E6F05-A302-4C60-8799-530E3CCF76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49A0FE-D98D-457F-84F0-581A612AB3C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B0C5F-DED2-4E6D-8E5D-241607BC63DB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9EB79-781F-4D28-AE45-430CB6807C8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0">
            <a:extLst>
              <a:ext uri="{FF2B5EF4-FFF2-40B4-BE49-F238E27FC236}">
                <a16:creationId xmlns:a16="http://schemas.microsoft.com/office/drawing/2014/main" id="{D1280479-CBE5-41DB-BA4E-12FAD207D265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E40C6-DA6B-4107-904A-F06F6BBFEF0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0">
            <a:extLst>
              <a:ext uri="{FF2B5EF4-FFF2-40B4-BE49-F238E27FC236}">
                <a16:creationId xmlns:a16="http://schemas.microsoft.com/office/drawing/2014/main" id="{AC9CE508-01C3-4CBD-A460-E08E5824DF69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VRIO Shows LEGO's Durable Advantage Still Comes from Its Core—not from Owning a Studio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0A42D-F3B3-4A41-9A7C-FB1B1F1EEA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RESOURCE /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FDE11-A701-4E8F-973F-2330768FADEA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A6E08-FF29-4C96-B45A-20BC9DECC137}"/>
              </a:ext>
            </a:extLst>
          </p:cNvPr>
          <p:cNvSpPr>
            <a:spLocks noGrp="1"/>
          </p:cNvSpPr>
          <p:nvPr/>
        </p:nvSpPr>
        <p:spPr>
          <a:xfrm>
            <a:off x="5619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7DC3C0-3E2B-4008-BFE4-DB05F371A905}"/>
              </a:ext>
            </a:extLst>
          </p:cNvPr>
          <p:cNvSpPr>
            <a:spLocks noGrp="1"/>
          </p:cNvSpPr>
          <p:nvPr/>
        </p:nvSpPr>
        <p:spPr>
          <a:xfrm>
            <a:off x="6762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AFEEE3-2CEE-4724-9B9C-2454E70C09B5}"/>
              </a:ext>
            </a:extLst>
          </p:cNvPr>
          <p:cNvSpPr>
            <a:spLocks noGrp="1"/>
          </p:cNvSpPr>
          <p:nvPr/>
        </p:nvSpPr>
        <p:spPr>
          <a:xfrm>
            <a:off x="7905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E8CBA-A077-4BED-ABDF-71E2C2801A51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23E714-BD3E-4474-A31D-CD6653227A05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E21F1-4BE7-48CC-87BE-985D377C00A0}"/>
              </a:ext>
            </a:extLst>
          </p:cNvPr>
          <p:cNvSpPr>
            <a:spLocks noGrp="1"/>
          </p:cNvSpPr>
          <p:nvPr/>
        </p:nvSpPr>
        <p:spPr>
          <a:xfrm>
            <a:off x="590550" y="18954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 fontScale="98039"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SYSTEM IN PLAY</a:t>
            </a:r>
          </a:p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Compatibility + recombination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445B6-489F-429F-98F9-3662E127FDB2}"/>
              </a:ext>
            </a:extLst>
          </p:cNvPr>
          <p:cNvSpPr>
            <a:spLocks noGrp="1"/>
          </p:cNvSpPr>
          <p:nvPr/>
        </p:nvSpPr>
        <p:spPr>
          <a:xfrm>
            <a:off x="4476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B4D52-9C70-402D-997A-0425C25E7E4A}"/>
              </a:ext>
            </a:extLst>
          </p:cNvPr>
          <p:cNvSpPr>
            <a:spLocks noGrp="1"/>
          </p:cNvSpPr>
          <p:nvPr/>
        </p:nvSpPr>
        <p:spPr>
          <a:xfrm>
            <a:off x="5619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D0636-27E6-4DD4-B517-AD5156D6B548}"/>
              </a:ext>
            </a:extLst>
          </p:cNvPr>
          <p:cNvSpPr>
            <a:spLocks noGrp="1"/>
          </p:cNvSpPr>
          <p:nvPr/>
        </p:nvSpPr>
        <p:spPr>
          <a:xfrm>
            <a:off x="6762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D0D705-72E6-4B11-9C2E-96C1E5BED851}"/>
              </a:ext>
            </a:extLst>
          </p:cNvPr>
          <p:cNvSpPr>
            <a:spLocks noGrp="1"/>
          </p:cNvSpPr>
          <p:nvPr/>
        </p:nvSpPr>
        <p:spPr>
          <a:xfrm>
            <a:off x="7905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E7B5D6-803F-469E-989E-EF1B383ED7AD}"/>
              </a:ext>
            </a:extLst>
          </p:cNvPr>
          <p:cNvSpPr>
            <a:spLocks noGrp="1"/>
          </p:cNvSpPr>
          <p:nvPr/>
        </p:nvSpPr>
        <p:spPr>
          <a:xfrm>
            <a:off x="9096375" y="1924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77D350-506A-429F-8BFB-CF38FB04087F}"/>
              </a:ext>
            </a:extLst>
          </p:cNvPr>
          <p:cNvSpPr>
            <a:spLocks noGrp="1"/>
          </p:cNvSpPr>
          <p:nvPr/>
        </p:nvSpPr>
        <p:spPr>
          <a:xfrm>
            <a:off x="457200" y="24955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14D7C7-0A2B-4BA1-9B93-3B4F777B378C}"/>
              </a:ext>
            </a:extLst>
          </p:cNvPr>
          <p:cNvSpPr>
            <a:spLocks noGrp="1"/>
          </p:cNvSpPr>
          <p:nvPr/>
        </p:nvSpPr>
        <p:spPr>
          <a:xfrm>
            <a:off x="590550" y="25431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Brand + family trust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6270C6-0556-4604-963B-55E2AA4157B3}"/>
              </a:ext>
            </a:extLst>
          </p:cNvPr>
          <p:cNvSpPr>
            <a:spLocks noGrp="1"/>
          </p:cNvSpPr>
          <p:nvPr/>
        </p:nvSpPr>
        <p:spPr>
          <a:xfrm>
            <a:off x="4476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D6F51E-A783-4BBB-9975-3056EF115F90}"/>
              </a:ext>
            </a:extLst>
          </p:cNvPr>
          <p:cNvSpPr>
            <a:spLocks noGrp="1"/>
          </p:cNvSpPr>
          <p:nvPr/>
        </p:nvSpPr>
        <p:spPr>
          <a:xfrm>
            <a:off x="5619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ED0A7E-ABB1-4D8D-A63B-4F610BB21513}"/>
              </a:ext>
            </a:extLst>
          </p:cNvPr>
          <p:cNvSpPr>
            <a:spLocks noGrp="1"/>
          </p:cNvSpPr>
          <p:nvPr/>
        </p:nvSpPr>
        <p:spPr>
          <a:xfrm>
            <a:off x="6762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A71D2D-D91C-4F68-8A7C-5647AC2D6FED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CA0171-CB83-4C10-B466-1FA95C18B3D2}"/>
              </a:ext>
            </a:extLst>
          </p:cNvPr>
          <p:cNvSpPr>
            <a:spLocks noGrp="1"/>
          </p:cNvSpPr>
          <p:nvPr/>
        </p:nvSpPr>
        <p:spPr>
          <a:xfrm>
            <a:off x="9096375" y="25717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A16F79-ADDF-47F9-AE89-5762408088C5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3B8B2B-9B1F-48C5-A9FF-D6EC62DE1186}"/>
              </a:ext>
            </a:extLst>
          </p:cNvPr>
          <p:cNvSpPr>
            <a:spLocks noGrp="1"/>
          </p:cNvSpPr>
          <p:nvPr/>
        </p:nvSpPr>
        <p:spPr>
          <a:xfrm>
            <a:off x="590550" y="31908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Brick / minifigure visual grammar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6703BA-D3F5-4D9A-BC6D-60F0FB151CD0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39CDCF-A992-47E0-A0DD-FFCC2D9B6DE7}"/>
              </a:ext>
            </a:extLst>
          </p:cNvPr>
          <p:cNvSpPr>
            <a:spLocks noGrp="1"/>
          </p:cNvSpPr>
          <p:nvPr/>
        </p:nvSpPr>
        <p:spPr>
          <a:xfrm>
            <a:off x="5619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2B2233-D65C-49FC-8B07-3BAF241DF58F}"/>
              </a:ext>
            </a:extLst>
          </p:cNvPr>
          <p:cNvSpPr>
            <a:spLocks noGrp="1"/>
          </p:cNvSpPr>
          <p:nvPr/>
        </p:nvSpPr>
        <p:spPr>
          <a:xfrm>
            <a:off x="6762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D9E628-0005-438C-8AE4-E36CE8BFE25E}"/>
              </a:ext>
            </a:extLst>
          </p:cNvPr>
          <p:cNvSpPr>
            <a:spLocks noGrp="1"/>
          </p:cNvSpPr>
          <p:nvPr/>
        </p:nvSpPr>
        <p:spPr>
          <a:xfrm>
            <a:off x="7905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E00D8-0B3A-43E9-B37B-E001D7160F50}"/>
              </a:ext>
            </a:extLst>
          </p:cNvPr>
          <p:cNvSpPr>
            <a:spLocks noGrp="1"/>
          </p:cNvSpPr>
          <p:nvPr/>
        </p:nvSpPr>
        <p:spPr>
          <a:xfrm>
            <a:off x="9096375" y="32194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279FE0E-D4EC-465D-BA7B-70D6097579CD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DF0E4E-11FA-4E3C-8810-B19AD9119A50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World → play → product translation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81AED3-A38C-4AC3-B6AD-4238C8D369DE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08F5D8-B124-45C5-901C-85C735118E46}"/>
              </a:ext>
            </a:extLst>
          </p:cNvPr>
          <p:cNvSpPr>
            <a:spLocks noGrp="1"/>
          </p:cNvSpPr>
          <p:nvPr/>
        </p:nvSpPr>
        <p:spPr>
          <a:xfrm>
            <a:off x="5619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94506-65C2-4ED7-86B1-70CC872B447B}"/>
              </a:ext>
            </a:extLst>
          </p:cNvPr>
          <p:cNvSpPr>
            <a:spLocks noGrp="1"/>
          </p:cNvSpPr>
          <p:nvPr/>
        </p:nvSpPr>
        <p:spPr>
          <a:xfrm>
            <a:off x="6762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6BE0DC-1F3C-4C53-A222-89309AF31978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71A1C2-ED63-428A-85A5-66EF13FAF7DE}"/>
              </a:ext>
            </a:extLst>
          </p:cNvPr>
          <p:cNvSpPr>
            <a:spLocks noGrp="1"/>
          </p:cNvSpPr>
          <p:nvPr/>
        </p:nvSpPr>
        <p:spPr>
          <a:xfrm>
            <a:off x="9096375" y="3867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66CCA35-4900-4292-8251-7E66E9A3C138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B8B536-C2CA-4F36-8A7A-0C82C7295299}"/>
              </a:ext>
            </a:extLst>
          </p:cNvPr>
          <p:cNvSpPr>
            <a:spLocks noGrp="1"/>
          </p:cNvSpPr>
          <p:nvPr/>
        </p:nvSpPr>
        <p:spPr>
          <a:xfrm>
            <a:off x="590550" y="44862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Film production / distribution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3D5A16-5832-4133-A091-BEA541A26A2F}"/>
              </a:ext>
            </a:extLst>
          </p:cNvPr>
          <p:cNvSpPr>
            <a:spLocks noGrp="1"/>
          </p:cNvSpPr>
          <p:nvPr/>
        </p:nvSpPr>
        <p:spPr>
          <a:xfrm>
            <a:off x="4476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8B5593-5661-4A8D-AE36-608989ABC363}"/>
              </a:ext>
            </a:extLst>
          </p:cNvPr>
          <p:cNvSpPr>
            <a:spLocks noGrp="1"/>
          </p:cNvSpPr>
          <p:nvPr/>
        </p:nvSpPr>
        <p:spPr>
          <a:xfrm>
            <a:off x="5619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9017C8-CB97-4FF5-9FCA-3EE8ADA2B9A4}"/>
              </a:ext>
            </a:extLst>
          </p:cNvPr>
          <p:cNvSpPr>
            <a:spLocks noGrp="1"/>
          </p:cNvSpPr>
          <p:nvPr/>
        </p:nvSpPr>
        <p:spPr>
          <a:xfrm>
            <a:off x="6762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27EE44-7815-45B0-AF27-1CD1BCF19A9E}"/>
              </a:ext>
            </a:extLst>
          </p:cNvPr>
          <p:cNvSpPr>
            <a:spLocks noGrp="1"/>
          </p:cNvSpPr>
          <p:nvPr/>
        </p:nvSpPr>
        <p:spPr>
          <a:xfrm>
            <a:off x="7905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△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134659-CA65-4D31-AD24-06B6DC260741}"/>
              </a:ext>
            </a:extLst>
          </p:cNvPr>
          <p:cNvSpPr>
            <a:spLocks noGrp="1"/>
          </p:cNvSpPr>
          <p:nvPr/>
        </p:nvSpPr>
        <p:spPr>
          <a:xfrm>
            <a:off x="9096375" y="45148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PARTNER CAPABILITY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CB46335-F084-4E6C-96A1-93B11819B2C8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4FEE0E-29F9-4A06-81C9-08B3924A8575}"/>
              </a:ext>
            </a:extLst>
          </p:cNvPr>
          <p:cNvSpPr>
            <a:spLocks noGrp="1"/>
          </p:cNvSpPr>
          <p:nvPr/>
        </p:nvSpPr>
        <p:spPr>
          <a:xfrm>
            <a:off x="590550" y="51339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AAA development / platform operations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B82048-3556-4A3C-B927-CFD588645BE3}"/>
              </a:ext>
            </a:extLst>
          </p:cNvPr>
          <p:cNvSpPr>
            <a:spLocks noGrp="1"/>
          </p:cNvSpPr>
          <p:nvPr/>
        </p:nvSpPr>
        <p:spPr>
          <a:xfrm>
            <a:off x="4476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65AFBA-43E0-42AC-A903-E9EE92EB29BF}"/>
              </a:ext>
            </a:extLst>
          </p:cNvPr>
          <p:cNvSpPr>
            <a:spLocks noGrp="1"/>
          </p:cNvSpPr>
          <p:nvPr/>
        </p:nvSpPr>
        <p:spPr>
          <a:xfrm>
            <a:off x="5619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6F3D87-1C33-464A-9B2A-BBFB97DB08A6}"/>
              </a:ext>
            </a:extLst>
          </p:cNvPr>
          <p:cNvSpPr>
            <a:spLocks noGrp="1"/>
          </p:cNvSpPr>
          <p:nvPr/>
        </p:nvSpPr>
        <p:spPr>
          <a:xfrm>
            <a:off x="6762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F9F044-35A5-4B0F-813D-0B9E988EF40A}"/>
              </a:ext>
            </a:extLst>
          </p:cNvPr>
          <p:cNvSpPr>
            <a:spLocks noGrp="1"/>
          </p:cNvSpPr>
          <p:nvPr/>
        </p:nvSpPr>
        <p:spPr>
          <a:xfrm>
            <a:off x="7905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△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EB5DA9-D7DA-4EE2-A09E-3BD38A425818}"/>
              </a:ext>
            </a:extLst>
          </p:cNvPr>
          <p:cNvSpPr>
            <a:spLocks noGrp="1"/>
          </p:cNvSpPr>
          <p:nvPr/>
        </p:nvSpPr>
        <p:spPr>
          <a:xfrm>
            <a:off x="9096375" y="51625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PARTNER CAPABILITY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47039A-1C5A-4D16-A03A-F78AA025FC18}"/>
              </a:ext>
            </a:extLst>
          </p:cNvPr>
          <p:cNvSpPr>
            <a:spLocks noGrp="1"/>
          </p:cNvSpPr>
          <p:nvPr/>
        </p:nvSpPr>
        <p:spPr>
          <a:xfrm>
            <a:off x="1333500" y="590550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9902"/>
          </a:bodyPr>
          <a:lstStyle/>
          <a:p>
            <a:pPr algn="ctr">
              <a:defRPr sz="16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VRIO conclusion: LEGO should control the architecture and translation—not vertically integrate every specialist production step.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553EBA-2155-477A-ACC2-CD9E615A224B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VRIO: Value / Rarity / Inimitability / Organization. Framework: Barney (1991).</a:t>
            </a:r>
          </a:p>
        </p:txBody>
      </p:sp>
    </p:spTree>
    <p:extLst>
      <p:ext uri="{BB962C8B-B14F-4D97-AF65-F5344CB8AC3E}">
        <p14:creationId xmlns:p14="http://schemas.microsoft.com/office/powerpoint/2010/main" val="82029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2F9D0F-F41D-4A7B-80B0-35A5F8188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60E23-9C41-4335-91CC-A96C3787208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4659E-C1A5-49E8-8AF7-5DDFE483614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F8D06-081B-4EF6-B0DC-4E5C20AC40E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1">
            <a:extLst>
              <a:ext uri="{FF2B5EF4-FFF2-40B4-BE49-F238E27FC236}">
                <a16:creationId xmlns:a16="http://schemas.microsoft.com/office/drawing/2014/main" id="{DA15B31B-C2E2-4D56-AFC0-6081224E68B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4CE29-BE77-4A3B-AB79-CD68B2B8BCF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1">
            <a:extLst>
              <a:ext uri="{FF2B5EF4-FFF2-40B4-BE49-F238E27FC236}">
                <a16:creationId xmlns:a16="http://schemas.microsoft.com/office/drawing/2014/main" id="{C84219B9-44C7-4804-877D-41C3E878CC28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Boundary of Related Diversification: Share Resources and Return Value to the Brick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1DE1C8-62A6-4D06-892E-BCEF7C091DF3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PHYSICAL BRICKS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31E4D4-04FB-48A8-BBDC-4AE11C552A87}"/>
              </a:ext>
            </a:extLst>
          </p:cNvPr>
          <p:cNvSpPr>
            <a:spLocks noGrp="1"/>
          </p:cNvSpPr>
          <p:nvPr/>
        </p:nvSpPr>
        <p:spPr>
          <a:xfrm>
            <a:off x="3143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CHARACTERS &amp; STORIES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EB2EE-E3FE-4344-88F1-E71361D31500}"/>
              </a:ext>
            </a:extLst>
          </p:cNvPr>
          <p:cNvSpPr>
            <a:spLocks noGrp="1"/>
          </p:cNvSpPr>
          <p:nvPr/>
        </p:nvSpPr>
        <p:spPr>
          <a:xfrm>
            <a:off x="5667375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FILM / TV / GAMES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FE8A39-3208-4BCD-92D4-BFD625EF1327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ENGAGEMENT &amp; COMMUNITY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4C88B9-50AE-4EE2-B59C-F65269076F3F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SETS / NEW PLAY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106A75-4B7A-419B-9FA6-8AC474460D95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INSIGHT &amp; IDEAS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2E268D-D12A-4E0A-8E3B-AA3D689401DC}"/>
              </a:ext>
            </a:extLst>
          </p:cNvPr>
          <p:cNvSpPr>
            <a:spLocks noGrp="1"/>
          </p:cNvSpPr>
          <p:nvPr/>
        </p:nvSpPr>
        <p:spPr>
          <a:xfrm>
            <a:off x="3524250" y="3162300"/>
            <a:ext cx="5048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81189"/>
          </a:bodyPr>
          <a:lstStyle/>
          <a:p>
            <a:pPr algn="ctr">
              <a:def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SHARED: brand, minifigure grammar, compatibility, design capability, retail channels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83F5F-4C57-49E3-8009-D84FF39F3541}"/>
              </a:ext>
            </a:extLst>
          </p:cNvPr>
          <p:cNvSpPr>
            <a:spLocks noGrp="1"/>
          </p:cNvSpPr>
          <p:nvPr/>
        </p:nvSpPr>
        <p:spPr>
          <a:xfrm>
            <a:off x="10191750" y="2333625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RELATED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58C1A-7E1F-4347-B998-700FD8824620}"/>
              </a:ext>
            </a:extLst>
          </p:cNvPr>
          <p:cNvSpPr>
            <a:spLocks noGrp="1"/>
          </p:cNvSpPr>
          <p:nvPr/>
        </p:nvSpPr>
        <p:spPr>
          <a:xfrm>
            <a:off x="9906000" y="2952750"/>
            <a:ext cx="171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Stories become sets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Platforms activate physical sales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20F51-F8FC-4465-83C9-69CDBAB9A630}"/>
              </a:ext>
            </a:extLst>
          </p:cNvPr>
          <p:cNvSpPr>
            <a:spLocks noGrp="1"/>
          </p:cNvSpPr>
          <p:nvPr/>
        </p:nvSpPr>
        <p:spPr>
          <a:xfrm>
            <a:off x="10191750" y="4267200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6806"/>
          </a:bodyPr>
          <a:lstStyle/>
          <a:p>
            <a:pPr algn="ctr">
              <a:def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OVER THE 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11905-8F5B-4D6A-B703-BA843F40CB63}"/>
              </a:ext>
            </a:extLst>
          </p:cNvPr>
          <p:cNvSpPr>
            <a:spLocks noGrp="1"/>
          </p:cNvSpPr>
          <p:nvPr/>
        </p:nvSpPr>
        <p:spPr>
          <a:xfrm>
            <a:off x="9791700" y="4876800"/>
            <a:ext cx="1952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Isolated content bets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No shared resources, no product return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0A2E4-D664-412A-9B46-F5AE5700E0C6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Related diversification creates economies of scope through shared resources and complementarity—while controlling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1635486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195A717-5016-4B39-8F98-36EFBD28C2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24E5F-B4ED-41FD-AB53-7F4F89B953C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042F4-D039-48E1-9A1D-15C98600180F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63C9B-8B9D-427B-BE92-11B37755029F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2">
            <a:extLst>
              <a:ext uri="{FF2B5EF4-FFF2-40B4-BE49-F238E27FC236}">
                <a16:creationId xmlns:a16="http://schemas.microsoft.com/office/drawing/2014/main" id="{167F0F7D-68C1-4423-AE71-E71B4957AE72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101E8-7052-4D32-B532-2A5FCEDB4BD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2">
            <a:extLst>
              <a:ext uri="{FF2B5EF4-FFF2-40B4-BE49-F238E27FC236}">
                <a16:creationId xmlns:a16="http://schemas.microsoft.com/office/drawing/2014/main" id="{1D8E59E3-74D7-4D07-81C4-18A864A60692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4348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Four Cases Show that Entertainment Requires Different Control Models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rcRect l="8437" r="8437"/>
          <a:stretch>
            <a:fillRect/>
          </a:stretch>
        </p:blipFill>
        <p:spPr>
          <a:xfrm>
            <a:off x="457200" y="1476375"/>
            <a:ext cx="253365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5120A5-F6CE-4449-828A-E72B99F5E843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LEGO Star Wars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4F008-976F-4404-ADDF-2E1295155078}"/>
              </a:ext>
            </a:extLst>
          </p:cNvPr>
          <p:cNvSpPr>
            <a:spLocks noGrp="1"/>
          </p:cNvSpPr>
          <p:nvPr/>
        </p:nvSpPr>
        <p:spPr>
          <a:xfrm>
            <a:off x="457200" y="3762375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rPr>
              <a:t>EXTERNAL 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54B4BA-53CA-4E2E-836D-1CECBCB5961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Borrow reach, strengthen 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65D51-CBF2-4116-A11C-0C798EAC8442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Licensing and approval dependence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rcRect l="8576" r="8576"/>
          <a:stretch>
            <a:fillRect/>
          </a:stretch>
        </p:blipFill>
        <p:spPr>
          <a:xfrm>
            <a:off x="3257550" y="1476375"/>
            <a:ext cx="253365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39011F-AB20-4481-AE44-840D1CBDE82B}"/>
              </a:ext>
            </a:extLst>
          </p:cNvPr>
          <p:cNvSpPr>
            <a:spLocks noGrp="1"/>
          </p:cNvSpPr>
          <p:nvPr/>
        </p:nvSpPr>
        <p:spPr>
          <a:xfrm>
            <a:off x="3257550" y="331470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LEGO NINJAGO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655A20-0D5E-4F1F-B811-AD19BF1D9D7B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rPr>
              <a:t>OWNED 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CF7BC-DE5A-4F26-BC06-EF9F4D61A128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Characters and sets compound together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C28C9B-6ED8-4E55-9120-B3F4E9C2A3F7}"/>
              </a:ext>
            </a:extLst>
          </p:cNvPr>
          <p:cNvSpPr>
            <a:spLocks noGrp="1"/>
          </p:cNvSpPr>
          <p:nvPr/>
        </p:nvSpPr>
        <p:spPr>
          <a:xfrm>
            <a:off x="3257550" y="50482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Ongoing content investment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5"/>
          <a:srcRect l="19151" r="19151"/>
          <a:stretch>
            <a:fillRect/>
          </a:stretch>
        </p:blipFill>
        <p:spPr>
          <a:xfrm>
            <a:off x="6057900" y="1476375"/>
            <a:ext cx="253365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CB34F6A-DC19-4044-8822-350B5CB7BB18}"/>
              </a:ext>
            </a:extLst>
          </p:cNvPr>
          <p:cNvSpPr>
            <a:spLocks noGrp="1"/>
          </p:cNvSpPr>
          <p:nvPr/>
        </p:nvSpPr>
        <p:spPr>
          <a:xfrm>
            <a:off x="6057900" y="331470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The LEGO Movie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CE250F-3E0F-4BD5-9D00-9FE140994E83}"/>
              </a:ext>
            </a:extLst>
          </p:cNvPr>
          <p:cNvSpPr>
            <a:spLocks noGrp="1"/>
          </p:cNvSpPr>
          <p:nvPr/>
        </p:nvSpPr>
        <p:spPr>
          <a:xfrm>
            <a:off x="6057900" y="3762375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rPr>
              <a:t>CO-CREATION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C92B71-2133-440B-A1B1-37BCE27FBA7C}"/>
              </a:ext>
            </a:extLst>
          </p:cNvPr>
          <p:cNvSpPr>
            <a:spLocks noGrp="1"/>
          </p:cNvSpPr>
          <p:nvPr/>
        </p:nvSpPr>
        <p:spPr>
          <a:xfrm>
            <a:off x="6057900" y="41719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Amplifies brand meaning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A0B69A-5E0E-44FF-BC82-27CC731FD473}"/>
              </a:ext>
            </a:extLst>
          </p:cNvPr>
          <p:cNvSpPr>
            <a:spLocks noGrp="1"/>
          </p:cNvSpPr>
          <p:nvPr/>
        </p:nvSpPr>
        <p:spPr>
          <a:xfrm>
            <a:off x="6057900" y="50482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Box-office volatility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6"/>
          <a:srcRect l="8437" r="8437"/>
          <a:stretch>
            <a:fillRect/>
          </a:stretch>
        </p:blipFill>
        <p:spPr>
          <a:xfrm>
            <a:off x="8858250" y="1476375"/>
            <a:ext cx="253365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ECCCE69-0037-4B49-9A3F-B161CD4EE563}"/>
              </a:ext>
            </a:extLst>
          </p:cNvPr>
          <p:cNvSpPr>
            <a:spLocks noGrp="1"/>
          </p:cNvSpPr>
          <p:nvPr/>
        </p:nvSpPr>
        <p:spPr>
          <a:xfrm>
            <a:off x="8858250" y="331470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LEGO Fortnite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2518DD-4CAB-49B4-9D1C-63AE472A6739}"/>
              </a:ext>
            </a:extLst>
          </p:cNvPr>
          <p:cNvSpPr>
            <a:spLocks noGrp="1"/>
          </p:cNvSpPr>
          <p:nvPr/>
        </p:nvSpPr>
        <p:spPr>
          <a:xfrm>
            <a:off x="8858250" y="3762375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BEC9"/>
                </a:solidFill>
                <a:latin typeface="Microsoft YaHei"/>
                <a:ea typeface="Microsoft YaHei"/>
                <a:cs typeface="Microsoft YaHei"/>
              </a:rPr>
              <a:t>PLATFORM ECOSYSTEM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DA4B2A-638B-4090-804B-D3EFE326F86F}"/>
              </a:ext>
            </a:extLst>
          </p:cNvPr>
          <p:cNvSpPr>
            <a:spLocks noGrp="1"/>
          </p:cNvSpPr>
          <p:nvPr/>
        </p:nvSpPr>
        <p:spPr>
          <a:xfrm>
            <a:off x="8858250" y="41719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Strongest digital–physical loop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BF95DF-3D99-4D68-9350-7ED5A99D22B4}"/>
              </a:ext>
            </a:extLst>
          </p:cNvPr>
          <p:cNvSpPr>
            <a:spLocks noGrp="1"/>
          </p:cNvSpPr>
          <p:nvPr/>
        </p:nvSpPr>
        <p:spPr>
          <a:xfrm>
            <a:off x="8858250" y="5048250"/>
            <a:ext cx="2533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  <a:p>
            <a:pPr algn="l">
              <a:def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4BF"/>
                </a:solidFill>
                <a:latin typeface="Microsoft YaHei"/>
                <a:ea typeface="Microsoft YaHei"/>
                <a:cs typeface="Microsoft YaHei"/>
              </a:rPr>
              <a:t>Platform and data governance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62500E-184F-4EDA-8590-D43BAC745797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Sources: official LEGO Group case materials (Star Wars, NINJAGO, The LEGO Movie, LEGO Fortnite).</a:t>
            </a:r>
          </a:p>
        </p:txBody>
      </p:sp>
    </p:spTree>
    <p:extLst>
      <p:ext uri="{BB962C8B-B14F-4D97-AF65-F5344CB8AC3E}">
        <p14:creationId xmlns:p14="http://schemas.microsoft.com/office/powerpoint/2010/main" val="1673964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B57168-5B8E-44E0-8393-4E12452D73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405965-6049-410F-B52B-08DDBF8BEB98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1376A-8245-4EBB-996F-3304450C8B05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0039F-C1FE-4BD7-98F8-197B7BC5160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3">
            <a:extLst>
              <a:ext uri="{FF2B5EF4-FFF2-40B4-BE49-F238E27FC236}">
                <a16:creationId xmlns:a16="http://schemas.microsoft.com/office/drawing/2014/main" id="{3743324F-7A76-4833-BB43-839050A054D6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D552F-D15F-452D-B223-54FE6259BE8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3">
            <a:extLst>
              <a:ext uri="{FF2B5EF4-FFF2-40B4-BE49-F238E27FC236}">
                <a16:creationId xmlns:a16="http://schemas.microsoft.com/office/drawing/2014/main" id="{86E4BD70-25F7-452F-87CD-A5FD7E55FACD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2004 Lesson Is Not “Avoid Entertainment”—It Is “Do Not Let Complexity Outrun Capability”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8EF66-8C8C-4723-9D26-40FA3AD0E30F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DKK 6.704B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AEE82-E2B5-420D-A504-9C0352EEDC2A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2004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23E56-5C0D-4674-BABB-FF28C9AD6775}"/>
              </a:ext>
            </a:extLst>
          </p:cNvPr>
          <p:cNvSpPr>
            <a:spLocks noGrp="1"/>
          </p:cNvSpPr>
          <p:nvPr/>
        </p:nvSpPr>
        <p:spPr>
          <a:xfrm>
            <a:off x="4286250" y="1666875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−DKK 1.931B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69FFC-6508-4FD0-A806-D407892727A3}"/>
              </a:ext>
            </a:extLst>
          </p:cNvPr>
          <p:cNvSpPr>
            <a:spLocks noGrp="1"/>
          </p:cNvSpPr>
          <p:nvPr/>
        </p:nvSpPr>
        <p:spPr>
          <a:xfrm>
            <a:off x="4286250" y="223837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2004 NET LOSS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A332F2-E7CF-4BA7-B8D6-895B7FCF8469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WHAT THE COMPANY DID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CC3BCE-F455-4A73-BDEA-11F6C535CA2C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Dispose of or separate non-core, capital-intensive businesses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Transfer electronic-game platforms to licensing partners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Reduce complexity and rebuild capital discipline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25CD51-DD68-4C5B-84B8-1AF58909860F}"/>
              </a:ext>
            </a:extLst>
          </p:cNvPr>
          <p:cNvSpPr>
            <a:spLocks noGrp="1"/>
          </p:cNvSpPr>
          <p:nvPr/>
        </p:nvSpPr>
        <p:spPr>
          <a:xfrm>
            <a:off x="6715125" y="3333750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65040"/>
          </a:bodyPr>
          <a:lstStyle/>
          <a:p>
            <a:pPr algn="ctr">
              <a:defRPr sz="18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CAUSALITY BOUNDARY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8E74B5-FD9F-4480-94F5-63366971170D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139"/>
          </a:bodyPr>
          <a:lstStyle/>
          <a:p>
            <a:pPr algn="l">
              <a:defRPr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report does not prove that entertainment caused the crisis.</a:t>
            </a:r>
          </a:p>
          <a:p>
            <a:pPr algn="l">
              <a:defRPr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It supports a narrower conclusion: diversification destroys value when product complexity, capital commitments, and new capabilities exceed organizational capacity.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EB2776-0624-4BF8-93C6-B02A356C1F2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The LEGO Group Annual Report 2004. Causal interpretation remains deliberately cautious.</a:t>
            </a:r>
          </a:p>
        </p:txBody>
      </p:sp>
    </p:spTree>
    <p:extLst>
      <p:ext uri="{BB962C8B-B14F-4D97-AF65-F5344CB8AC3E}">
        <p14:creationId xmlns:p14="http://schemas.microsoft.com/office/powerpoint/2010/main" val="620223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A14C501-AB9C-4A60-9A00-9C38AFCB1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D51E4-EE9F-4C72-8F77-32EFC89739B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129DE-6B4C-4471-8B13-B0788F02E9C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0E37D-C697-4AAB-912A-C7AD8684F6E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4">
            <a:extLst>
              <a:ext uri="{FF2B5EF4-FFF2-40B4-BE49-F238E27FC236}">
                <a16:creationId xmlns:a16="http://schemas.microsoft.com/office/drawing/2014/main" id="{0AECAAF0-2F1C-4C58-8E67-B3757F92901C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B9F0B-B41B-4FF6-99CC-ADE6F62CD3B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4">
            <a:extLst>
              <a:ext uri="{FF2B5EF4-FFF2-40B4-BE49-F238E27FC236}">
                <a16:creationId xmlns:a16="http://schemas.microsoft.com/office/drawing/2014/main" id="{0F309772-4CC4-4BC7-9E10-B034290493CA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765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Three Paths Forward: the Choice Is What to Control—and What to Outsource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1D84BC-7F52-47B6-AC79-149D3404A09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AAE6A3-AF0F-4D9C-A610-0C3A74298AE7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4585C-114F-48BD-8CDF-E3E75F9E57FF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BRICK-FIRST LICENSING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368ED8-CFF5-4C66-AC8D-184DC5BF7C72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LOW CAPITAL / LOW CONTROL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76293E-1523-4265-A013-346B67FD02B7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Safer, but cedes owned worlds and data</a:t>
            </a:r>
          </a:p>
        </p:txBody>
      </p:sp>
      <p:sp>
        <p:nvSpPr>
          <p:cNvPr id="13" name="nav-to-15-Explore-This-Path-→">
            <a:hlinkClick r:id="rId3" action="ppaction://hlinksldjump"/>
            <a:extLst>
              <a:ext uri="{FF2B5EF4-FFF2-40B4-BE49-F238E27FC236}">
                <a16:creationId xmlns:a16="http://schemas.microsoft.com/office/drawing/2014/main" id="{634DBBC7-992F-4FE8-8F84-D62DF3A1B279}"/>
              </a:ext>
            </a:extLst>
          </p:cNvPr>
          <p:cNvSpPr>
            <a:spLocks noGrp="1"/>
          </p:cNvSpPr>
          <p:nvPr/>
        </p:nvSpPr>
        <p:spPr>
          <a:xfrm>
            <a:off x="895350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Explore This Path 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B9830E-EE2E-4F25-BD0C-00BB5C3A64BD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7270B3-8683-4E0A-8FC2-905B4B19A932}"/>
              </a:ext>
            </a:extLst>
          </p:cNvPr>
          <p:cNvSpPr>
            <a:spLocks noGrp="1"/>
          </p:cNvSpPr>
          <p:nvPr/>
        </p:nvSpPr>
        <p:spPr>
          <a:xfrm>
            <a:off x="4752975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557037-95FD-4656-A687-51A483ABF9D3}"/>
              </a:ext>
            </a:extLst>
          </p:cNvPr>
          <p:cNvSpPr>
            <a:spLocks noGrp="1"/>
          </p:cNvSpPr>
          <p:nvPr/>
        </p:nvSpPr>
        <p:spPr>
          <a:xfrm>
            <a:off x="4752975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FULL VERTICAL INTEGRATION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4F462-E6CE-494A-B963-1BE3B12C1AEC}"/>
              </a:ext>
            </a:extLst>
          </p:cNvPr>
          <p:cNvSpPr>
            <a:spLocks noGrp="1"/>
          </p:cNvSpPr>
          <p:nvPr/>
        </p:nvSpPr>
        <p:spPr>
          <a:xfrm>
            <a:off x="4752975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HIGH CAPITAL / HIGH CONTROL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69BAD8-2047-49D7-A55C-56D4EC849238}"/>
              </a:ext>
            </a:extLst>
          </p:cNvPr>
          <p:cNvSpPr>
            <a:spLocks noGrp="1"/>
          </p:cNvSpPr>
          <p:nvPr/>
        </p:nvSpPr>
        <p:spPr>
          <a:xfrm>
            <a:off x="4752975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Largest capability gaps and volatility</a:t>
            </a:r>
          </a:p>
        </p:txBody>
      </p:sp>
      <p:sp>
        <p:nvSpPr>
          <p:cNvPr id="19" name="nav-to-16-Explore-This-Path-→">
            <a:hlinkClick r:id="rId4" action="ppaction://hlinksldjump"/>
            <a:extLst>
              <a:ext uri="{FF2B5EF4-FFF2-40B4-BE49-F238E27FC236}">
                <a16:creationId xmlns:a16="http://schemas.microsoft.com/office/drawing/2014/main" id="{315E7516-D562-4103-A5A2-D4A18ADF7FD5}"/>
              </a:ext>
            </a:extLst>
          </p:cNvPr>
          <p:cNvSpPr>
            <a:spLocks noGrp="1"/>
          </p:cNvSpPr>
          <p:nvPr/>
        </p:nvSpPr>
        <p:spPr>
          <a:xfrm>
            <a:off x="4752975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Explore This Path 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CFACA4-BFCF-4EB2-88D6-2D3DD56E8818}"/>
              </a:ext>
            </a:extLst>
          </p:cNvPr>
          <p:cNvSpPr>
            <a:spLocks noGrp="1"/>
          </p:cNvSpPr>
          <p:nvPr/>
        </p:nvSpPr>
        <p:spPr>
          <a:xfrm>
            <a:off x="8382000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3D11B3-8B98-4AB6-800D-3DE2F89CCDFA}"/>
              </a:ext>
            </a:extLst>
          </p:cNvPr>
          <p:cNvSpPr>
            <a:spLocks noGrp="1"/>
          </p:cNvSpPr>
          <p:nvPr/>
        </p:nvSpPr>
        <p:spPr>
          <a:xfrm>
            <a:off x="8610600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E3DFFE-FACD-4B19-8092-FD650D7A8C36}"/>
              </a:ext>
            </a:extLst>
          </p:cNvPr>
          <p:cNvSpPr>
            <a:spLocks noGrp="1"/>
          </p:cNvSpPr>
          <p:nvPr/>
        </p:nvSpPr>
        <p:spPr>
          <a:xfrm>
            <a:off x="8610600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HYBRID ECOSYSTEM ORCHESTRATOR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D835E2-F8DD-4D31-8FA7-945A2B9223F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Own the architecture; rent execution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D315F5-D0EB-4338-B4D8-AB51757B9F8C}"/>
              </a:ext>
            </a:extLst>
          </p:cNvPr>
          <p:cNvSpPr>
            <a:spLocks noGrp="1"/>
          </p:cNvSpPr>
          <p:nvPr/>
        </p:nvSpPr>
        <p:spPr>
          <a:xfrm>
            <a:off x="8610600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Best fit with VRIO</a:t>
            </a:r>
          </a:p>
        </p:txBody>
      </p:sp>
      <p:sp>
        <p:nvSpPr>
          <p:cNvPr id="25" name="nav-to-17-Explore-This-Path-→">
            <a:hlinkClick r:id="rId5" action="ppaction://hlinksldjump"/>
            <a:extLst>
              <a:ext uri="{FF2B5EF4-FFF2-40B4-BE49-F238E27FC236}">
                <a16:creationId xmlns:a16="http://schemas.microsoft.com/office/drawing/2014/main" id="{511752BB-C09E-4520-AB96-9B4612C37BAC}"/>
              </a:ext>
            </a:extLst>
          </p:cNvPr>
          <p:cNvSpPr>
            <a:spLocks noGrp="1"/>
          </p:cNvSpPr>
          <p:nvPr/>
        </p:nvSpPr>
        <p:spPr>
          <a:xfrm>
            <a:off x="8610600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Explore This Path 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95871-C033-4941-9866-35A1C494580F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3329"/>
          </a:bodyPr>
          <a:lstStyle/>
          <a:p>
            <a: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Vote first, then see the score: which path best protects the brick core while enabling entertainment growth?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B151AF-A38A-42E9-9683-71BDD6F33768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Click any option to enter its scoring branch.</a:t>
            </a:r>
          </a:p>
        </p:txBody>
      </p:sp>
    </p:spTree>
    <p:extLst>
      <p:ext uri="{BB962C8B-B14F-4D97-AF65-F5344CB8AC3E}">
        <p14:creationId xmlns:p14="http://schemas.microsoft.com/office/powerpoint/2010/main" val="582178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9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DA9184-0DA1-41DC-AF63-7A0C65D963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50344-8A5D-4964-B6A1-86ACBE21647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76CF0-6E88-4359-A156-8A3721C39C48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181CB-2DC3-4F3B-8A07-ECB80F9656DF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5">
            <a:extLst>
              <a:ext uri="{FF2B5EF4-FFF2-40B4-BE49-F238E27FC236}">
                <a16:creationId xmlns:a16="http://schemas.microsoft.com/office/drawing/2014/main" id="{03B51CDB-18A9-4227-9157-7133EAAA4454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8A1A0B-1D3B-4008-8AEA-38E2049DD15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5">
            <a:extLst>
              <a:ext uri="{FF2B5EF4-FFF2-40B4-BE49-F238E27FC236}">
                <a16:creationId xmlns:a16="http://schemas.microsoft.com/office/drawing/2014/main" id="{EE95D7E3-AF1A-4E55-A9C0-AF2F2D402ED7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OPTION A | Brick-First Licensing: Feasible, but It Cedes Digital Relationships and Owned Worlds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8CA70-77DB-4631-B5B2-CC15CEB763C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3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3.55 /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1F70E-D3B2-47BC-A0FE-3C861EE31349}"/>
              </a:ext>
            </a:extLst>
          </p:cNvPr>
          <p:cNvSpPr>
            <a:spLocks noGrp="1"/>
          </p:cNvSpPr>
          <p:nvPr/>
        </p:nvSpPr>
        <p:spPr>
          <a:xfrm>
            <a:off x="4572000" y="176212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ADVANTAGE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17FFE-5CC6-4F28-A699-48B6507BA568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Capital-light, fast to execute, insulated from content volatility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B81E87-D062-49AA-9E6E-696E8E94DA94}"/>
              </a:ext>
            </a:extLst>
          </p:cNvPr>
          <p:cNvSpPr>
            <a:spLocks noGrp="1"/>
          </p:cNvSpPr>
          <p:nvPr/>
        </p:nvSpPr>
        <p:spPr>
          <a:xfrm>
            <a:off x="4572000" y="32385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E1082-D414-4286-A742-E5FAB11ED023}"/>
              </a:ext>
            </a:extLst>
          </p:cNvPr>
          <p:cNvSpPr>
            <a:spLocks noGrp="1"/>
          </p:cNvSpPr>
          <p:nvPr/>
        </p:nvSpPr>
        <p:spPr>
          <a:xfrm>
            <a:off x="4572000" y="3810000"/>
            <a:ext cx="619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Weak accumulation of owned IP and player data; partners control platform and story cadence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1AC43-C688-4690-84EE-451FE6CFC74F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Best when platform economics deteriorate, partner terms are exceptional, or the organization is not ready to manage a cross-media portfolio.</a:t>
            </a:r>
          </a:p>
        </p:txBody>
      </p:sp>
      <p:sp>
        <p:nvSpPr>
          <p:cNvPr id="14" name="nav-to-14-←-Back-to-Three-Options">
            <a:hlinkClick r:id="rId3" action="ppaction://hlinksldjump"/>
            <a:extLst>
              <a:ext uri="{FF2B5EF4-FFF2-40B4-BE49-F238E27FC236}">
                <a16:creationId xmlns:a16="http://schemas.microsoft.com/office/drawing/2014/main" id="{91130637-E2BF-4D90-8365-A246D6F6FDF2}"/>
              </a:ext>
            </a:extLst>
          </p:cNvPr>
          <p:cNvSpPr>
            <a:spLocks noGrp="1"/>
          </p:cNvSpPr>
          <p:nvPr/>
        </p:nvSpPr>
        <p:spPr>
          <a:xfrm>
            <a:off x="40957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Three Options</a:t>
            </a:r>
          </a:p>
        </p:txBody>
      </p:sp>
      <p:sp>
        <p:nvSpPr>
          <p:cNvPr id="15" name="nav-to-17-See-Recommendation-→">
            <a:hlinkClick r:id="rId4" action="ppaction://hlinksldjump"/>
            <a:extLst>
              <a:ext uri="{FF2B5EF4-FFF2-40B4-BE49-F238E27FC236}">
                <a16:creationId xmlns:a16="http://schemas.microsoft.com/office/drawing/2014/main" id="{099AF4C3-2DE2-40C4-9C0E-19F621B83BA1}"/>
              </a:ext>
            </a:extLst>
          </p:cNvPr>
          <p:cNvSpPr>
            <a:spLocks noGrp="1"/>
          </p:cNvSpPr>
          <p:nvPr/>
        </p:nvSpPr>
        <p:spPr>
          <a:xfrm>
            <a:off x="61912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 Recommendation 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806BED-8FB1-4F5C-B819-47D38980644F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Weighted score: core fit 25%, owned IP 20%, feasibility 20%, digital–physical synergy 20%, risk protection 15%.</a:t>
            </a:r>
          </a:p>
        </p:txBody>
      </p:sp>
    </p:spTree>
    <p:extLst>
      <p:ext uri="{BB962C8B-B14F-4D97-AF65-F5344CB8AC3E}">
        <p14:creationId xmlns:p14="http://schemas.microsoft.com/office/powerpoint/2010/main" val="1685124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1DFD427-D7D3-4827-9A51-3B5F90EC2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389AA-DC16-403A-AA84-3A2CC94E3549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771F4-037F-44F8-AE44-92EA25965829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7F0875-0DBC-4201-A3B2-80DEE8774D8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6">
            <a:extLst>
              <a:ext uri="{FF2B5EF4-FFF2-40B4-BE49-F238E27FC236}">
                <a16:creationId xmlns:a16="http://schemas.microsoft.com/office/drawing/2014/main" id="{30AD0F2C-232E-4A7A-8E85-4CA095135C53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6FE61A-AE7F-4555-954B-53D1D5833CA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6">
            <a:extLst>
              <a:ext uri="{FF2B5EF4-FFF2-40B4-BE49-F238E27FC236}">
                <a16:creationId xmlns:a16="http://schemas.microsoft.com/office/drawing/2014/main" id="{DAAA92D4-CF68-49B8-B562-F65CBF78F374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OPTION B | Full Vertical Integration: Maximum Control, but a Battle in Non-Rare, Unpredictable Capabilities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4AA46-6B10-4EBB-A968-0CD3CD10DD1A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3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3.05 /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DA21B5-4DD6-48CC-8796-1B398590F5A2}"/>
              </a:ext>
            </a:extLst>
          </p:cNvPr>
          <p:cNvSpPr>
            <a:spLocks noGrp="1"/>
          </p:cNvSpPr>
          <p:nvPr/>
        </p:nvSpPr>
        <p:spPr>
          <a:xfrm>
            <a:off x="4572000" y="176212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TEMPTATION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529DB-A7BB-4F32-AF1B-C961B7D84572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Own IP, distribution, data, and release windows end to 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D602E5-F9E9-4D59-99F7-0D1BE653A4A1}"/>
              </a:ext>
            </a:extLst>
          </p:cNvPr>
          <p:cNvSpPr>
            <a:spLocks noGrp="1"/>
          </p:cNvSpPr>
          <p:nvPr/>
        </p:nvSpPr>
        <p:spPr>
          <a:xfrm>
            <a:off x="4572000" y="32385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E0595-BCF0-4DE5-BED8-A64C99737AB0}"/>
              </a:ext>
            </a:extLst>
          </p:cNvPr>
          <p:cNvSpPr>
            <a:spLocks noGrp="1"/>
          </p:cNvSpPr>
          <p:nvPr/>
        </p:nvSpPr>
        <p:spPr>
          <a:xfrm>
            <a:off x="4572000" y="381000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Studios, AAA development, and platform operations are not LEGO's VRIO core; capital intensity and hit volatility amplify complexity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9730F0-C66E-49B1-B8F8-99E158322E5C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score rises only if LEGO can acquire a mature team, preserve its culture, and prove a closed loop with physical play.</a:t>
            </a:r>
          </a:p>
        </p:txBody>
      </p:sp>
      <p:sp>
        <p:nvSpPr>
          <p:cNvPr id="14" name="nav-to-14-←-Back-to-Three-Options">
            <a:hlinkClick r:id="rId3" action="ppaction://hlinksldjump"/>
            <a:extLst>
              <a:ext uri="{FF2B5EF4-FFF2-40B4-BE49-F238E27FC236}">
                <a16:creationId xmlns:a16="http://schemas.microsoft.com/office/drawing/2014/main" id="{CD6FB940-C0D7-4A4F-9A88-10EA500B63A9}"/>
              </a:ext>
            </a:extLst>
          </p:cNvPr>
          <p:cNvSpPr>
            <a:spLocks noGrp="1"/>
          </p:cNvSpPr>
          <p:nvPr/>
        </p:nvSpPr>
        <p:spPr>
          <a:xfrm>
            <a:off x="40957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Three Options</a:t>
            </a:r>
          </a:p>
        </p:txBody>
      </p:sp>
      <p:sp>
        <p:nvSpPr>
          <p:cNvPr id="15" name="nav-to-17-See-Recommendation-→">
            <a:hlinkClick r:id="rId4" action="ppaction://hlinksldjump"/>
            <a:extLst>
              <a:ext uri="{FF2B5EF4-FFF2-40B4-BE49-F238E27FC236}">
                <a16:creationId xmlns:a16="http://schemas.microsoft.com/office/drawing/2014/main" id="{6B4538E2-D689-4C5B-B11D-542D3793E0FA}"/>
              </a:ext>
            </a:extLst>
          </p:cNvPr>
          <p:cNvSpPr>
            <a:spLocks noGrp="1"/>
          </p:cNvSpPr>
          <p:nvPr/>
        </p:nvSpPr>
        <p:spPr>
          <a:xfrm>
            <a:off x="61912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 Recommendation 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EE242F-CED1-47B4-B0D5-FA4D7AE51937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The weighted score is a strategic judgment, not an official LEGO forecast.</a:t>
            </a:r>
          </a:p>
        </p:txBody>
      </p:sp>
    </p:spTree>
    <p:extLst>
      <p:ext uri="{BB962C8B-B14F-4D97-AF65-F5344CB8AC3E}">
        <p14:creationId xmlns:p14="http://schemas.microsoft.com/office/powerpoint/2010/main" val="1170250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1B3FBA-F5A9-415B-845C-96654840DF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AC134-F702-4466-B314-C5A815494054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E41BC-2BE7-407D-BD97-C27DB62783B7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04BE6-116C-4D04-842B-4FB5F283AF9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7">
            <a:extLst>
              <a:ext uri="{FF2B5EF4-FFF2-40B4-BE49-F238E27FC236}">
                <a16:creationId xmlns:a16="http://schemas.microsoft.com/office/drawing/2014/main" id="{158265ED-6AA9-49C4-936A-162859BB1D4F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34D0A-AA6F-4DFF-A0A1-903A30E3D4B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7">
            <a:extLst>
              <a:ext uri="{FF2B5EF4-FFF2-40B4-BE49-F238E27FC236}">
                <a16:creationId xmlns:a16="http://schemas.microsoft.com/office/drawing/2014/main" id="{91E0661E-7C87-4900-9B2D-CCD14965FF9B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OPTION C | Hybrid Ecosystem Orchestrator: Keep the Hard-to-Copy Core, Partner for Specialist Production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793D3-89A5-448B-A8C0-4A8ED477CAD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23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4.45 /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9DF71-6F93-422C-99E4-03EBAA755CD1}"/>
              </a:ext>
            </a:extLst>
          </p:cNvPr>
          <p:cNvSpPr>
            <a:spLocks noGrp="1"/>
          </p:cNvSpPr>
          <p:nvPr/>
        </p:nvSpPr>
        <p:spPr>
          <a:xfrm>
            <a:off x="4095750" y="1571625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LEGO MUST OWN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CA5BDA-8314-4446-A079-14C7A44C5719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3238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System in Play architecture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Owned-IP road map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Product–story loop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Child safety and brand standards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Cross-media data governance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7F462A-A230-4AE1-8273-183F473E1313}"/>
              </a:ext>
            </a:extLst>
          </p:cNvPr>
          <p:cNvSpPr>
            <a:spLocks noGrp="1"/>
          </p:cNvSpPr>
          <p:nvPr/>
        </p:nvSpPr>
        <p:spPr>
          <a:xfrm>
            <a:off x="7810500" y="1571625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146"/>
          </a:bodyPr>
          <a:lstStyle/>
          <a:p>
            <a:pPr algn="l">
              <a:defRPr sz="18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LEGO SHOULD PARTNER FOR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127337-B22F-4347-BA13-87AB9233C830}"/>
              </a:ext>
            </a:extLst>
          </p:cNvPr>
          <p:cNvSpPr>
            <a:spLocks noGrp="1"/>
          </p:cNvSpPr>
          <p:nvPr/>
        </p:nvSpPr>
        <p:spPr>
          <a:xfrm>
            <a:off x="7810500" y="2143125"/>
            <a:ext cx="3429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Film production and distribution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AAA production capacity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Game engines and platform operations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Global content distribution</a:t>
            </a: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Specialized technology and talent peaks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94C1C3-48D8-43BA-AB7A-CFA44C18C125}"/>
              </a:ext>
            </a:extLst>
          </p:cNvPr>
          <p:cNvSpPr>
            <a:spLocks noGrp="1"/>
          </p:cNvSpPr>
          <p:nvPr/>
        </p:nvSpPr>
        <p:spPr>
          <a:xfrm>
            <a:off x="1619250" y="4810125"/>
            <a:ext cx="895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Core governance questions: Who owns the characters? Who can use the data? Who bears content failure? How do sets synchronize? How can LEGO exit a platform?</a:t>
            </a:r>
          </a:p>
        </p:txBody>
      </p:sp>
      <p:sp>
        <p:nvSpPr>
          <p:cNvPr id="14" name="nav-to-14-←-Back-to-Three-Options">
            <a:hlinkClick r:id="rId3" action="ppaction://hlinksldjump"/>
            <a:extLst>
              <a:ext uri="{FF2B5EF4-FFF2-40B4-BE49-F238E27FC236}">
                <a16:creationId xmlns:a16="http://schemas.microsoft.com/office/drawing/2014/main" id="{5E492CDA-F39B-496C-AD62-CFE01334FFAD}"/>
              </a:ext>
            </a:extLst>
          </p:cNvPr>
          <p:cNvSpPr>
            <a:spLocks noGrp="1"/>
          </p:cNvSpPr>
          <p:nvPr/>
        </p:nvSpPr>
        <p:spPr>
          <a:xfrm>
            <a:off x="40957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← Back to Three Options</a:t>
            </a:r>
          </a:p>
        </p:txBody>
      </p:sp>
      <p:sp>
        <p:nvSpPr>
          <p:cNvPr id="15" name="nav-to-18-Go-to-Conclusion-→">
            <a:hlinkClick r:id="rId4" action="ppaction://hlinksldjump"/>
            <a:extLst>
              <a:ext uri="{FF2B5EF4-FFF2-40B4-BE49-F238E27FC236}">
                <a16:creationId xmlns:a16="http://schemas.microsoft.com/office/drawing/2014/main" id="{03F1839D-0726-4707-A939-06D28D36B039}"/>
              </a:ext>
            </a:extLst>
          </p:cNvPr>
          <p:cNvSpPr>
            <a:spLocks noGrp="1"/>
          </p:cNvSpPr>
          <p:nvPr/>
        </p:nvSpPr>
        <p:spPr>
          <a:xfrm>
            <a:off x="6191250" y="595312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 to Conclusion 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8DC871-710A-4FBB-A860-4CED2520B70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Recommendation: Hybrid Entertainment Ecosystem Orchestrator.</a:t>
            </a:r>
          </a:p>
        </p:txBody>
      </p:sp>
    </p:spTree>
    <p:extLst>
      <p:ext uri="{BB962C8B-B14F-4D97-AF65-F5344CB8AC3E}">
        <p14:creationId xmlns:p14="http://schemas.microsoft.com/office/powerpoint/2010/main" val="325732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D3DBC05-8758-46EF-B32A-A2B9563BD0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A04F5-A742-407B-A5BB-D0F421D29109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A1783-0E6B-44DD-8296-0B682CA1F8B9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1A2F6-C6D6-47EE-A79D-3F88F3B27D1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8">
            <a:extLst>
              <a:ext uri="{FF2B5EF4-FFF2-40B4-BE49-F238E27FC236}">
                <a16:creationId xmlns:a16="http://schemas.microsoft.com/office/drawing/2014/main" id="{9CC2B2E2-D92E-41F5-993A-1E2390479D8B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DDF4F-43F7-452D-A946-9E2C6DAD8C0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8">
            <a:extLst>
              <a:ext uri="{FF2B5EF4-FFF2-40B4-BE49-F238E27FC236}">
                <a16:creationId xmlns:a16="http://schemas.microsoft.com/office/drawing/2014/main" id="{373B4489-AE20-41CF-8A59-812548B20681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698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Final Judgment: Expand Entertainment—but Keep Bricks at the Core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t="5943" b="5943"/>
          <a:stretch>
            <a:fillRect/>
          </a:stretch>
        </p:blipFill>
        <p:spPr>
          <a:xfrm>
            <a:off x="457200" y="1428750"/>
            <a:ext cx="5810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2ED89D-A34F-4F6B-A5AF-43635D1F0190}"/>
              </a:ext>
            </a:extLst>
          </p:cNvPr>
          <p:cNvSpPr>
            <a:spLocks noGrp="1"/>
          </p:cNvSpPr>
          <p:nvPr/>
        </p:nvSpPr>
        <p:spPr>
          <a:xfrm>
            <a:off x="6810375" y="15240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889"/>
          </a:bodyPr>
          <a:lstStyle/>
          <a:p>
            <a:pPr algn="l">
              <a:defRPr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CONTINUE TO EXPAND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AF7693-F02E-41F9-B880-32CE5CC340B6}"/>
              </a:ext>
            </a:extLst>
          </p:cNvPr>
          <p:cNvSpPr>
            <a:spLocks noGrp="1"/>
          </p:cNvSpPr>
          <p:nvPr/>
        </p:nvSpPr>
        <p:spPr>
          <a:xfrm>
            <a:off x="6810375" y="2143125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Owned worlds: NINJAGO and DREAMZzz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Persistent digital spaces and creator ecosystems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Projects that generate sets, repeat play, and new mechanics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9CC4D-7C5A-4639-AB55-1E278EC6467A}"/>
              </a:ext>
            </a:extLst>
          </p:cNvPr>
          <p:cNvSpPr>
            <a:spLocks noGrp="1"/>
          </p:cNvSpPr>
          <p:nvPr/>
        </p:nvSpPr>
        <p:spPr>
          <a:xfrm>
            <a:off x="6810375" y="36671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6298"/>
          </a:bodyPr>
          <a:lstStyle/>
          <a:p>
            <a:pPr algn="l">
              <a:defRPr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STAY DISCIPLINED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BE414-A75D-4973-9DAB-33B3DC5A4004}"/>
              </a:ext>
            </a:extLst>
          </p:cNvPr>
          <p:cNvSpPr>
            <a:spLocks noGrp="1"/>
          </p:cNvSpPr>
          <p:nvPr/>
        </p:nvSpPr>
        <p:spPr>
          <a:xfrm>
            <a:off x="6810375" y="4286250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203"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Do not acquire unrelated capabilities for “content scale”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Do not treat box office, subscriptions, or active users as the end goal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Every project must prove its return to physical play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01F0E-0639-454C-BEFE-C88E28A30D32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9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Entertainment should extend the System in Play—not replace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5DB62-3BD3-49D2-AF56-F47422CE4B42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Recommendation based on VRIO, related diversification, and comparative cases.</a:t>
            </a:r>
          </a:p>
        </p:txBody>
      </p:sp>
    </p:spTree>
    <p:extLst>
      <p:ext uri="{BB962C8B-B14F-4D97-AF65-F5344CB8AC3E}">
        <p14:creationId xmlns:p14="http://schemas.microsoft.com/office/powerpoint/2010/main" val="2041803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14D4C26-4198-47B8-BD85-48A7F987F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C8C74-0F69-4A0F-B6A7-24DE0D68F619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068EF-4F5A-41D8-9E3F-0902269BE17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1A0C4B-8F15-4C85-858F-97DD6688D1C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9">
            <a:extLst>
              <a:ext uri="{FF2B5EF4-FFF2-40B4-BE49-F238E27FC236}">
                <a16:creationId xmlns:a16="http://schemas.microsoft.com/office/drawing/2014/main" id="{56422EAD-C5B0-452A-9FE5-36E396253453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5D33F4-9EDA-4F17-9D11-3D8744668DD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9">
            <a:extLst>
              <a:ext uri="{FF2B5EF4-FFF2-40B4-BE49-F238E27FC236}">
                <a16:creationId xmlns:a16="http://schemas.microsoft.com/office/drawing/2014/main" id="{DECA8680-1512-4375-AB8D-771513BB7412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 Governance Before Worlds: a Three-Stage Path to Lock Growth into the Physical–Digital Loop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93C32-5EE3-4C04-8D5A-329A480C3EF9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0–12 MONTHS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A80DD-8E3A-4F19-94B9-FA2020DD0C62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038"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GOVERN THE PORTFOLIO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688E3-E006-4690-89E6-D7DCF74DAC7F}"/>
              </a:ext>
            </a:extLst>
          </p:cNvPr>
          <p:cNvSpPr>
            <a:spLocks noGrp="1"/>
          </p:cNvSpPr>
          <p:nvPr/>
        </p:nvSpPr>
        <p:spPr>
          <a:xfrm>
            <a:off x="571500" y="2905125"/>
            <a:ext cx="3429000" cy="1143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C6521-F08B-4BD7-A033-8975678B2040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342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Create an entertainment investment committee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Standardize IP, data, and safety terms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Set a “return to the brick” metric for every project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25F83D-2B28-44B4-B557-D669870B1897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3429000" cy="438150"/>
          </a:xfrm>
          <a:prstGeom prst="roundRect">
            <a:avLst>
              <a:gd name="adj" fmla="val 26087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GOVERN FIRST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EE564D-62BD-4745-9F3E-9337CBEBB209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1–3 YEARS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FD8ED-BC61-44C6-BC33-699F170E273E}"/>
              </a:ext>
            </a:extLst>
          </p:cNvPr>
          <p:cNvSpPr>
            <a:spLocks noGrp="1"/>
          </p:cNvSpPr>
          <p:nvPr/>
        </p:nvSpPr>
        <p:spPr>
          <a:xfrm>
            <a:off x="4476750" y="214312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REPLICATE THE LOOP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FC36E6-CD83-460B-B6CA-5687644A104B}"/>
              </a:ext>
            </a:extLst>
          </p:cNvPr>
          <p:cNvSpPr>
            <a:spLocks noGrp="1"/>
          </p:cNvSpPr>
          <p:nvPr/>
        </p:nvSpPr>
        <p:spPr>
          <a:xfrm>
            <a:off x="4476750" y="2905125"/>
            <a:ext cx="3429000" cy="11430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FFF20-1452-4FB8-88B7-CA87CF783C11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342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Replicate LEGO Fortnite-style mechanisms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Orchestrate owned IP across TV, games, and sets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Screen projects with small prototypes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9D3EF-C96E-4E49-9CA9-4A7D4E13B9BB}"/>
              </a:ext>
            </a:extLst>
          </p:cNvPr>
          <p:cNvSpPr>
            <a:spLocks noGrp="1"/>
          </p:cNvSpPr>
          <p:nvPr/>
        </p:nvSpPr>
        <p:spPr>
          <a:xfrm>
            <a:off x="4476750" y="5238750"/>
            <a:ext cx="3429000" cy="438150"/>
          </a:xfrm>
          <a:prstGeom prst="roundRect">
            <a:avLst>
              <a:gd name="adj" fmla="val 2608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REPLICATE SYNERGY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0107CA-BD8D-4B59-9D08-65151996CFD2}"/>
              </a:ext>
            </a:extLst>
          </p:cNvPr>
          <p:cNvSpPr>
            <a:spLocks noGrp="1"/>
          </p:cNvSpPr>
          <p:nvPr/>
        </p:nvSpPr>
        <p:spPr>
          <a:xfrm>
            <a:off x="8382000" y="16668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3+ YEARS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E315D2-59FA-46D5-A04F-05891029AB71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OWN SELECTIVELY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B737D4-7D7B-49E7-967C-B79A0CB8BD6A}"/>
              </a:ext>
            </a:extLst>
          </p:cNvPr>
          <p:cNvSpPr>
            <a:spLocks noGrp="1"/>
          </p:cNvSpPr>
          <p:nvPr/>
        </p:nvSpPr>
        <p:spPr>
          <a:xfrm>
            <a:off x="8382000" y="2905125"/>
            <a:ext cx="3429000" cy="114300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03F9CE-3F24-4C1B-9F5E-CD0A76A2A083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342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Acquire only distinctive, integrable creative capabilities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Retain studio and platform partners</a:t>
            </a:r>
          </a:p>
          <a:p>
            <a:pPr algn="l">
              <a:def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• Exit content that does not create synergy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66D4BC-99A7-4448-A6CE-F8842200C1A0}"/>
              </a:ext>
            </a:extLst>
          </p:cNvPr>
          <p:cNvSpPr>
            <a:spLocks noGrp="1"/>
          </p:cNvSpPr>
          <p:nvPr/>
        </p:nvSpPr>
        <p:spPr>
          <a:xfrm>
            <a:off x="8382000" y="5238750"/>
            <a:ext cx="3429000" cy="438150"/>
          </a:xfrm>
          <a:prstGeom prst="roundRect">
            <a:avLst>
              <a:gd name="adj" fmla="val 26087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OWN SELECTIVELY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C5C1D-314E-4C28-8CB2-46B9E751FEC3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Illustrative staged road map; investments require partner terms and project-level business cases.</a:t>
            </a:r>
          </a:p>
        </p:txBody>
      </p:sp>
    </p:spTree>
    <p:extLst>
      <p:ext uri="{BB962C8B-B14F-4D97-AF65-F5344CB8AC3E}">
        <p14:creationId xmlns:p14="http://schemas.microsoft.com/office/powerpoint/2010/main" val="1920085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10212" b="102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2B620F-98B5-49F7-B8AE-D694938A3B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0">
            <a:noFill/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t="1035" b="1035"/>
          <a:stretch>
            <a:fillRect/>
          </a:stretch>
        </p:blipFill>
        <p:spPr>
          <a:xfrm>
            <a:off x="6667500" y="857250"/>
            <a:ext cx="4857750" cy="2667000"/>
          </a:xfrm>
          <a:prstGeom prst="roundRect">
            <a:avLst>
              <a:gd name="adj" fmla="val 4286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406CE1-6952-4F1A-9BC2-07FC5B718795}"/>
              </a:ext>
            </a:extLst>
          </p:cNvPr>
          <p:cNvSpPr>
            <a:spLocks noGrp="1"/>
          </p:cNvSpPr>
          <p:nvPr/>
        </p:nvSpPr>
        <p:spPr>
          <a:xfrm>
            <a:off x="571500" y="1028700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THE LAST BRICK</a:t>
            </a:r>
          </a:p>
        </p:txBody>
      </p:sp>
      <p:sp>
        <p:nvSpPr>
          <p:cNvPr id="5" name="title-20">
            <a:extLst>
              <a:ext uri="{FF2B5EF4-FFF2-40B4-BE49-F238E27FC236}">
                <a16:creationId xmlns:a16="http://schemas.microsoft.com/office/drawing/2014/main" id="{AE77079E-98D7-4E8E-90CE-00809F507D4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731"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LEGO'S FUTURE IS NOT</a:t>
            </a:r>
          </a:p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BECOME A “CONTENT COMPANY”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948E23-11AA-4E92-A008-41CEDD79C7D2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5810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480"/>
          </a:bodyPr>
          <a:lstStyle/>
          <a:p>
            <a:pPr algn="l">
              <a:def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IT IS TO BECOME THE COMPANY BEST AT TURNING</a:t>
            </a:r>
          </a:p>
          <a:p>
            <a:pPr algn="l">
              <a:def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STORIES, SCREENS, AND PLATFORMS BACK INTO BUILDABLE PLAY.</a:t>
            </a:r>
          </a:p>
        </p:txBody>
      </p:sp>
      <p:sp>
        <p:nvSpPr>
          <p:cNvPr id="7" name="nav-to-01-Back-to-Start-↺">
            <a:hlinkClick r:id="rId5" action="ppaction://hlinksldjump"/>
            <a:extLst>
              <a:ext uri="{FF2B5EF4-FFF2-40B4-BE49-F238E27FC236}">
                <a16:creationId xmlns:a16="http://schemas.microsoft.com/office/drawing/2014/main" id="{5810F439-9E01-418F-9FAF-1D354771AC7F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200025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Back to Start ↺</a:t>
            </a:r>
          </a:p>
        </p:txBody>
      </p:sp>
      <p:sp>
        <p:nvSpPr>
          <p:cNvPr id="8" name="nav-to-14-Back-to-Options">
            <a:hlinkClick r:id="rId6" action="ppaction://hlinksldjump"/>
            <a:extLst>
              <a:ext uri="{FF2B5EF4-FFF2-40B4-BE49-F238E27FC236}">
                <a16:creationId xmlns:a16="http://schemas.microsoft.com/office/drawing/2014/main" id="{DE4A041D-B737-4C89-A1A8-3CE28ECA806E}"/>
              </a:ext>
            </a:extLst>
          </p:cNvPr>
          <p:cNvSpPr>
            <a:spLocks noGrp="1"/>
          </p:cNvSpPr>
          <p:nvPr/>
        </p:nvSpPr>
        <p:spPr>
          <a:xfrm>
            <a:off x="2762250" y="5572125"/>
            <a:ext cx="2190750" cy="495300"/>
          </a:xfrm>
          <a:prstGeom prst="roundRect">
            <a:avLst>
              <a:gd name="adj" fmla="val 23077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 to Options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AED8F-FFCE-4EF5-AF86-382CC4FF6B5F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The test: will the next entertainment investment make a physical brick more valuable?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878E4-2FE8-45EC-82E5-BB22D28C09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FEB5F-71BC-426A-A2C1-0B1A95E66888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3A2268-AB8B-4C60-AB93-B5FC75855DBD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D5193A-0168-4FCE-9045-82E44DD6662B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14" name="slide-number-20">
            <a:extLst>
              <a:ext uri="{FF2B5EF4-FFF2-40B4-BE49-F238E27FC236}">
                <a16:creationId xmlns:a16="http://schemas.microsoft.com/office/drawing/2014/main" id="{F2304E1A-A2AB-499E-8BEF-804D028ED3D8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156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1857</Words>
  <Application>Microsoft Office PowerPoint</Application>
  <DocSecurity>0</DocSecurity>
  <PresentationFormat>Widescreen</PresentationFormat>
  <Paragraphs>335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a83192</cp:lastModifiedBy>
  <cp:revision>1</cp:revision>
  <dcterms:created xsi:type="dcterms:W3CDTF">2026-07-20T05:14:17Z</dcterms:created>
  <dcterms:modified xsi:type="dcterms:W3CDTF">2026-07-20T05:14:29Z</dcterms:modified>
</cp:coreProperties>
</file>