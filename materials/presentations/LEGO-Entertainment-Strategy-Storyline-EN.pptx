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.xml"/><Relationship Id="rId5" Type="http://schemas.openxmlformats.org/officeDocument/2006/relationships/slide" Target="slide1.xml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 l="12889" r="1288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2C2A8A-B7D1-4B16-A94B-063853FA69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090A0E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48A958-703D-44D7-8AFB-4F37E5B21F2A}"/>
              </a:ext>
            </a:extLst>
          </p:cNvPr>
          <p:cNvSpPr>
            <a:spLocks noGrp="1"/>
          </p:cNvSpPr>
          <p:nvPr/>
        </p:nvSpPr>
        <p:spPr>
          <a:xfrm>
            <a:off x="419100" y="495300"/>
            <a:ext cx="895350" cy="133350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4" name="title-1">
            <a:extLst>
              <a:ext uri="{FF2B5EF4-FFF2-40B4-BE49-F238E27FC236}">
                <a16:creationId xmlns:a16="http://schemas.microsoft.com/office/drawing/2014/main" id="{86030227-680B-4439-BF32-1A88F59DC430}"/>
              </a:ext>
            </a:extLst>
          </p:cNvPr>
          <p:cNvSpPr>
            <a:spLocks noGrp="1"/>
          </p:cNvSpPr>
          <p:nvPr/>
        </p:nvSpPr>
        <p:spPr>
          <a:xfrm>
            <a:off x="419100" y="1000125"/>
            <a:ext cx="528637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1181"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Building Beyond the Brick</a:t>
            </a:r>
            <a:endParaRPr sz="36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subtitle-1">
            <a:extLst>
              <a:ext uri="{FF2B5EF4-FFF2-40B4-BE49-F238E27FC236}">
                <a16:creationId xmlns:a16="http://schemas.microsoft.com/office/drawing/2014/main" id="{D9C633B2-5C8B-42CB-AFD3-5F61CF43D05A}"/>
              </a:ext>
            </a:extLst>
          </p:cNvPr>
          <p:cNvSpPr>
            <a:spLocks noGrp="1"/>
          </p:cNvSpPr>
          <p:nvPr/>
        </p:nvSpPr>
        <p:spPr>
          <a:xfrm>
            <a:off x="419100" y="19526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2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2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How Entertainment Changed LEGO's Direction</a:t>
            </a:r>
            <a:endParaRPr sz="2250" b="1">
              <a:solidFill>
                <a:srgbClr val="FFD5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27DCD1-C066-4933-AA12-F5E198207120}"/>
              </a:ext>
            </a:extLst>
          </p:cNvPr>
          <p:cNvSpPr>
            <a:spLocks noGrp="1"/>
          </p:cNvSpPr>
          <p:nvPr/>
        </p:nvSpPr>
        <p:spPr>
          <a:xfrm>
            <a:off x="419100" y="3638550"/>
            <a:ext cx="4286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rPr>
              <a:t>BRICKS × CHARACTERS × STORIES × SCREENS</a:t>
            </a:r>
          </a:p>
          <a:p>
            <a:pPr algn="l">
              <a:defRPr sz="1425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rPr>
              <a:t>VRIO + RELATED DIVERSIFICATION</a:t>
            </a:r>
            <a:endParaRPr sz="1425" b="0">
              <a:solidFill>
                <a:srgbClr val="D6D9E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9AF492-1948-4B63-89F2-E13F52073C00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050" b="0">
                <a:solidFill>
                  <a:srgbClr val="A8A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50" b="0">
                <a:solidFill>
                  <a:srgbClr val="A8ADB8"/>
                </a:solidFill>
                <a:latin typeface="Microsoft YaHei"/>
                <a:ea typeface="Microsoft YaHei"/>
                <a:cs typeface="Microsoft YaHei"/>
              </a:rPr>
              <a:t>A strategy story about identity, capability, and growth.</a:t>
            </a:r>
            <a:endParaRPr sz="1050" b="0">
              <a:solidFill>
                <a:srgbClr val="A8ADB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12D06-CE26-45DC-BA98-BF3922A6FE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79321-A703-4128-ACDB-9A6ED9485B85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E87ED9-944B-4C36-8D37-9EF8F0BEBC83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0C552E-0642-4CAD-A924-9855F74E11CD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12" name="slide-number-1">
            <a:extLst>
              <a:ext uri="{FF2B5EF4-FFF2-40B4-BE49-F238E27FC236}">
                <a16:creationId xmlns:a16="http://schemas.microsoft.com/office/drawing/2014/main" id="{D0104146-7BCE-4354-8B96-DBBD50B3BB25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223514-FDAA-4909-B4D0-24DB5542EF0C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Images: official LEGO Group / Universal Pictures press assets</a:t>
            </a:r>
          </a:p>
        </p:txBody>
      </p:sp>
    </p:spTree>
    <p:extLst>
      <p:ext uri="{BB962C8B-B14F-4D97-AF65-F5344CB8AC3E}">
        <p14:creationId xmlns:p14="http://schemas.microsoft.com/office/powerpoint/2010/main" val="3582329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345E5D8-5B78-4034-BA1B-F904E82B5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40B7F5-C14B-4DA4-80FF-E714007F47B5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CF021A-DC81-4102-99AF-4B502EF118FA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55EBFF-845E-4AFD-90FB-4F31A79423A7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3">
            <a:extLst>
              <a:ext uri="{FF2B5EF4-FFF2-40B4-BE49-F238E27FC236}">
                <a16:creationId xmlns:a16="http://schemas.microsoft.com/office/drawing/2014/main" id="{CF5ABCFC-0931-41ED-91F3-8184BA8FC970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975" b="1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6D3728-B64A-40E7-8789-8A96E0F0CCE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3">
            <a:extLst>
              <a:ext uri="{FF2B5EF4-FFF2-40B4-BE49-F238E27FC236}">
                <a16:creationId xmlns:a16="http://schemas.microsoft.com/office/drawing/2014/main" id="{2BF94327-C9F9-4E42-99C3-18EA89C5B16B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3569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LEGO's Original Advantage Was a System—not a Hit Toy</a:t>
            </a:r>
            <a:endParaRPr sz="2550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907381"/>
            <a:ext cx="5715000" cy="3214688"/>
          </a:xfrm>
          <a:prstGeom prst="roundRect">
            <a:avLst>
              <a:gd name="adj" fmla="val 2791"/>
            </a:avLst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DD9630-8375-4647-AE6C-59F02649AC7C}"/>
              </a:ext>
            </a:extLst>
          </p:cNvPr>
          <p:cNvSpPr>
            <a:spLocks noGrp="1"/>
          </p:cNvSpPr>
          <p:nvPr/>
        </p:nvSpPr>
        <p:spPr>
          <a:xfrm>
            <a:off x="6858000" y="16764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56DFD-5A84-4613-B826-05952CD063A7}"/>
              </a:ext>
            </a:extLst>
          </p:cNvPr>
          <p:cNvSpPr>
            <a:spLocks noGrp="1"/>
          </p:cNvSpPr>
          <p:nvPr/>
        </p:nvSpPr>
        <p:spPr>
          <a:xfrm>
            <a:off x="6943725" y="1885950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35E210-E25E-461F-AA83-D522E1896933}"/>
              </a:ext>
            </a:extLst>
          </p:cNvPr>
          <p:cNvSpPr>
            <a:spLocks noGrp="1"/>
          </p:cNvSpPr>
          <p:nvPr/>
        </p:nvSpPr>
        <p:spPr>
          <a:xfrm>
            <a:off x="7239000" y="1524000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1932</a:t>
            </a:r>
            <a:endParaRPr sz="17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7569B9-B05F-4D6A-B365-8C2459BD6BA4}"/>
              </a:ext>
            </a:extLst>
          </p:cNvPr>
          <p:cNvSpPr>
            <a:spLocks noGrp="1"/>
          </p:cNvSpPr>
          <p:nvPr/>
        </p:nvSpPr>
        <p:spPr>
          <a:xfrm>
            <a:off x="8191500" y="1543050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058"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Woodworking becomes a toy company</a:t>
            </a:r>
            <a:endParaRPr sz="135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2E34943-4BFA-4CBF-8102-FF93E3F9F920}"/>
              </a:ext>
            </a:extLst>
          </p:cNvPr>
          <p:cNvSpPr>
            <a:spLocks noGrp="1"/>
          </p:cNvSpPr>
          <p:nvPr/>
        </p:nvSpPr>
        <p:spPr>
          <a:xfrm>
            <a:off x="6858000" y="23907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16F5D0-0C18-4F2D-98A5-8B27E512DF0B}"/>
              </a:ext>
            </a:extLst>
          </p:cNvPr>
          <p:cNvSpPr>
            <a:spLocks noGrp="1"/>
          </p:cNvSpPr>
          <p:nvPr/>
        </p:nvSpPr>
        <p:spPr>
          <a:xfrm>
            <a:off x="6943725" y="2600325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555B7-07CA-4C60-BD30-8A95E418DC63}"/>
              </a:ext>
            </a:extLst>
          </p:cNvPr>
          <p:cNvSpPr>
            <a:spLocks noGrp="1"/>
          </p:cNvSpPr>
          <p:nvPr/>
        </p:nvSpPr>
        <p:spPr>
          <a:xfrm>
            <a:off x="7239000" y="2238375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1958</a:t>
            </a:r>
            <a:endParaRPr sz="17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971DBB-E0D8-45B8-BADB-462193BED240}"/>
              </a:ext>
            </a:extLst>
          </p:cNvPr>
          <p:cNvSpPr>
            <a:spLocks noGrp="1"/>
          </p:cNvSpPr>
          <p:nvPr/>
        </p:nvSpPr>
        <p:spPr>
          <a:xfrm>
            <a:off x="8191500" y="2257425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Interlocking brick becomes a compatible system</a:t>
            </a:r>
            <a:endParaRPr sz="135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B45BE9E-37B2-4156-BBA7-450C8837A497}"/>
              </a:ext>
            </a:extLst>
          </p:cNvPr>
          <p:cNvSpPr>
            <a:spLocks noGrp="1"/>
          </p:cNvSpPr>
          <p:nvPr/>
        </p:nvSpPr>
        <p:spPr>
          <a:xfrm>
            <a:off x="6858000" y="31051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6E33A4-5206-4CE0-8C23-BFA1112C67D2}"/>
              </a:ext>
            </a:extLst>
          </p:cNvPr>
          <p:cNvSpPr>
            <a:spLocks noGrp="1"/>
          </p:cNvSpPr>
          <p:nvPr/>
        </p:nvSpPr>
        <p:spPr>
          <a:xfrm>
            <a:off x="6943725" y="3314700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8D4FBA-69A1-4104-A55A-0844D783423C}"/>
              </a:ext>
            </a:extLst>
          </p:cNvPr>
          <p:cNvSpPr>
            <a:spLocks noGrp="1"/>
          </p:cNvSpPr>
          <p:nvPr/>
        </p:nvSpPr>
        <p:spPr>
          <a:xfrm>
            <a:off x="7239000" y="2952750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1978</a:t>
            </a:r>
            <a:endParaRPr sz="17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71894F-3E5C-4056-B927-220F702D496B}"/>
              </a:ext>
            </a:extLst>
          </p:cNvPr>
          <p:cNvSpPr>
            <a:spLocks noGrp="1"/>
          </p:cNvSpPr>
          <p:nvPr/>
        </p:nvSpPr>
        <p:spPr>
          <a:xfrm>
            <a:off x="8191500" y="2971800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Minifigure turns objects into characters</a:t>
            </a:r>
            <a:endParaRPr sz="135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2D69FB-7E50-458B-B8E3-643FC1CB298E}"/>
              </a:ext>
            </a:extLst>
          </p:cNvPr>
          <p:cNvSpPr>
            <a:spLocks noGrp="1"/>
          </p:cNvSpPr>
          <p:nvPr/>
        </p:nvSpPr>
        <p:spPr>
          <a:xfrm>
            <a:off x="6858000" y="3819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6C2C3E-E569-4EB5-9F8E-656D62A513D9}"/>
              </a:ext>
            </a:extLst>
          </p:cNvPr>
          <p:cNvSpPr>
            <a:spLocks noGrp="1"/>
          </p:cNvSpPr>
          <p:nvPr/>
        </p:nvSpPr>
        <p:spPr>
          <a:xfrm>
            <a:off x="6943725" y="4029075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3C7408-C6B3-4BF4-A70C-4A8155CD847D}"/>
              </a:ext>
            </a:extLst>
          </p:cNvPr>
          <p:cNvSpPr>
            <a:spLocks noGrp="1"/>
          </p:cNvSpPr>
          <p:nvPr/>
        </p:nvSpPr>
        <p:spPr>
          <a:xfrm>
            <a:off x="7239000" y="3667125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1999</a:t>
            </a:r>
            <a:endParaRPr sz="17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B52D4FB-9CAD-49B6-90D8-AB673A8AD3DC}"/>
              </a:ext>
            </a:extLst>
          </p:cNvPr>
          <p:cNvSpPr>
            <a:spLocks noGrp="1"/>
          </p:cNvSpPr>
          <p:nvPr/>
        </p:nvSpPr>
        <p:spPr>
          <a:xfrm>
            <a:off x="8191500" y="3686175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Star Wars enters a borrowed world</a:t>
            </a:r>
            <a:endParaRPr sz="135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949174E-0356-4EB9-9B67-1BA1B6810047}"/>
              </a:ext>
            </a:extLst>
          </p:cNvPr>
          <p:cNvSpPr>
            <a:spLocks noGrp="1"/>
          </p:cNvSpPr>
          <p:nvPr/>
        </p:nvSpPr>
        <p:spPr>
          <a:xfrm>
            <a:off x="6858000" y="45339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E4210A-D417-4218-9BE0-64309AB9BCE5}"/>
              </a:ext>
            </a:extLst>
          </p:cNvPr>
          <p:cNvSpPr>
            <a:spLocks noGrp="1"/>
          </p:cNvSpPr>
          <p:nvPr/>
        </p:nvSpPr>
        <p:spPr>
          <a:xfrm>
            <a:off x="6943725" y="4743450"/>
            <a:ext cx="38100" cy="514350"/>
          </a:xfrm>
          <a:prstGeom prst="rect">
            <a:avLst/>
          </a:prstGeom>
          <a:solidFill>
            <a:srgbClr val="D6CEB9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BFE307-3DBC-49E7-88A3-57606C207089}"/>
              </a:ext>
            </a:extLst>
          </p:cNvPr>
          <p:cNvSpPr>
            <a:spLocks noGrp="1"/>
          </p:cNvSpPr>
          <p:nvPr/>
        </p:nvSpPr>
        <p:spPr>
          <a:xfrm>
            <a:off x="7239000" y="4381500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2011</a:t>
            </a:r>
            <a:endParaRPr sz="17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08EB77-52E1-4162-94EC-554DB02E2B55}"/>
              </a:ext>
            </a:extLst>
          </p:cNvPr>
          <p:cNvSpPr>
            <a:spLocks noGrp="1"/>
          </p:cNvSpPr>
          <p:nvPr/>
        </p:nvSpPr>
        <p:spPr>
          <a:xfrm>
            <a:off x="8191500" y="4400550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NINJAGO builds an owned universe</a:t>
            </a:r>
            <a:endParaRPr sz="135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2DED32-C72C-4FC2-993B-5AE47BB685D3}"/>
              </a:ext>
            </a:extLst>
          </p:cNvPr>
          <p:cNvSpPr>
            <a:spLocks noGrp="1"/>
          </p:cNvSpPr>
          <p:nvPr/>
        </p:nvSpPr>
        <p:spPr>
          <a:xfrm>
            <a:off x="6858000" y="5248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6A7192-20AF-4264-B85C-E14DF2417D6D}"/>
              </a:ext>
            </a:extLst>
          </p:cNvPr>
          <p:cNvSpPr>
            <a:spLocks noGrp="1"/>
          </p:cNvSpPr>
          <p:nvPr/>
        </p:nvSpPr>
        <p:spPr>
          <a:xfrm>
            <a:off x="7239000" y="5095875"/>
            <a:ext cx="914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2023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D166B9-7E52-4979-9EDC-494F81D98FE9}"/>
              </a:ext>
            </a:extLst>
          </p:cNvPr>
          <p:cNvSpPr>
            <a:spLocks noGrp="1"/>
          </p:cNvSpPr>
          <p:nvPr/>
        </p:nvSpPr>
        <p:spPr>
          <a:xfrm>
            <a:off x="8191500" y="5114925"/>
            <a:ext cx="3000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Fortnite opens a persistent digital world</a:t>
            </a:r>
            <a:endParaRPr sz="135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206FF8-EA71-46F2-8DB6-2C96A6FABB4A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Source: LEGO Group history and company timeline.</a:t>
            </a:r>
            <a:endParaRPr sz="675" b="0">
              <a:solidFill>
                <a:srgbClr val="8A85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282797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ADCA632-21A8-4161-9543-B061944DB5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75C6B7-0DB6-42F0-9782-BA378436D27B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CA4FF7-171E-4FEB-AFF2-EECB9E29E0D3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BFC9B-AAA0-4958-A681-482AA2932F20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4">
            <a:extLst>
              <a:ext uri="{FF2B5EF4-FFF2-40B4-BE49-F238E27FC236}">
                <a16:creationId xmlns:a16="http://schemas.microsoft.com/office/drawing/2014/main" id="{7102CABF-AA05-43AD-92AB-DB3E86B3A2EE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975" b="1">
              <a:solidFill>
                <a:srgbClr val="8F96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D63A78-3506-4DE6-A7E6-7F186E63FF9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4">
            <a:extLst>
              <a:ext uri="{FF2B5EF4-FFF2-40B4-BE49-F238E27FC236}">
                <a16:creationId xmlns:a16="http://schemas.microsoft.com/office/drawing/2014/main" id="{0FCC979E-71DE-43F0-AB7E-9B9D2FE93D26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43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Minifigures Turned Construction into Storytelling</a:t>
            </a:r>
            <a:endParaRPr sz="25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E6598F-0B07-4132-BB29-0C0072353E56}"/>
              </a:ext>
            </a:extLst>
          </p:cNvPr>
          <p:cNvSpPr>
            <a:spLocks noGrp="1"/>
          </p:cNvSpPr>
          <p:nvPr/>
        </p:nvSpPr>
        <p:spPr>
          <a:xfrm>
            <a:off x="1143000" y="23431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PHYSICAL BRICKS</a:t>
            </a:r>
            <a:endParaRPr sz="14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80CE5A-84CD-4EE4-995D-22372816E1AD}"/>
              </a:ext>
            </a:extLst>
          </p:cNvPr>
          <p:cNvSpPr>
            <a:spLocks noGrp="1"/>
          </p:cNvSpPr>
          <p:nvPr/>
        </p:nvSpPr>
        <p:spPr>
          <a:xfrm>
            <a:off x="3714750" y="1428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LOCATIONS &amp; VEHICLES</a:t>
            </a:r>
            <a:endParaRPr sz="14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D7F166-6C93-4BB2-9AAD-1208A56DC91D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MINIFIGURE ROLES</a:t>
            </a:r>
            <a:endParaRPr sz="14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DCF124-C3CB-4BBD-B70F-157DD7B9A29C}"/>
              </a:ext>
            </a:extLst>
          </p:cNvPr>
          <p:cNvSpPr>
            <a:spLocks noGrp="1"/>
          </p:cNvSpPr>
          <p:nvPr/>
        </p:nvSpPr>
        <p:spPr>
          <a:xfrm>
            <a:off x="9048750" y="1428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00A65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CHARACTERS &amp; WORLDS</a:t>
            </a:r>
            <a:endParaRPr sz="14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86F64F-962C-4841-8C4D-F6AA298F153F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RULES &amp; CONFLICT</a:t>
            </a:r>
            <a:endParaRPr sz="14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491A49-4A0D-4EED-A10D-9FE670637D2D}"/>
              </a:ext>
            </a:extLst>
          </p:cNvPr>
          <p:cNvSpPr>
            <a:spLocks noGrp="1"/>
          </p:cNvSpPr>
          <p:nvPr/>
        </p:nvSpPr>
        <p:spPr>
          <a:xfrm>
            <a:off x="3714750" y="4095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CONTINUING STORIES</a:t>
            </a:r>
            <a:endParaRPr sz="14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4E395C-A3A6-4322-9788-62270A33AACB}"/>
              </a:ext>
            </a:extLst>
          </p:cNvPr>
          <p:cNvSpPr>
            <a:spLocks noGrp="1"/>
          </p:cNvSpPr>
          <p:nvPr/>
        </p:nvSpPr>
        <p:spPr>
          <a:xfrm>
            <a:off x="3067050" y="2619375"/>
            <a:ext cx="5715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7B786D-2828-4E17-8440-95346CBEC6EB}"/>
              </a:ext>
            </a:extLst>
          </p:cNvPr>
          <p:cNvSpPr>
            <a:spLocks noGrp="1"/>
          </p:cNvSpPr>
          <p:nvPr/>
        </p:nvSpPr>
        <p:spPr>
          <a:xfrm>
            <a:off x="5734050" y="2619375"/>
            <a:ext cx="5715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381A28-5F18-4018-95F5-C90377F3E5E7}"/>
              </a:ext>
            </a:extLst>
          </p:cNvPr>
          <p:cNvSpPr>
            <a:spLocks noGrp="1"/>
          </p:cNvSpPr>
          <p:nvPr/>
        </p:nvSpPr>
        <p:spPr>
          <a:xfrm>
            <a:off x="8496300" y="2619375"/>
            <a:ext cx="4572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12FD2D-827D-4BED-A375-12CEF48FE6E5}"/>
              </a:ext>
            </a:extLst>
          </p:cNvPr>
          <p:cNvSpPr>
            <a:spLocks noGrp="1"/>
          </p:cNvSpPr>
          <p:nvPr/>
        </p:nvSpPr>
        <p:spPr>
          <a:xfrm>
            <a:off x="9982200" y="3257550"/>
            <a:ext cx="76200" cy="66675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C51E1-14DD-474C-95F1-562E26C32E6D}"/>
              </a:ext>
            </a:extLst>
          </p:cNvPr>
          <p:cNvSpPr>
            <a:spLocks noGrp="1"/>
          </p:cNvSpPr>
          <p:nvPr/>
        </p:nvSpPr>
        <p:spPr>
          <a:xfrm>
            <a:off x="8496300" y="4448175"/>
            <a:ext cx="4572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149CB9-CCA3-4C99-9EE4-9EF49E38D303}"/>
              </a:ext>
            </a:extLst>
          </p:cNvPr>
          <p:cNvSpPr>
            <a:spLocks noGrp="1"/>
          </p:cNvSpPr>
          <p:nvPr/>
        </p:nvSpPr>
        <p:spPr>
          <a:xfrm>
            <a:off x="5734050" y="4448175"/>
            <a:ext cx="5715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BB3D31-5AA2-4EA9-B09F-5721536B09A3}"/>
              </a:ext>
            </a:extLst>
          </p:cNvPr>
          <p:cNvSpPr>
            <a:spLocks noGrp="1"/>
          </p:cNvSpPr>
          <p:nvPr/>
        </p:nvSpPr>
        <p:spPr>
          <a:xfrm>
            <a:off x="3067050" y="4448175"/>
            <a:ext cx="55245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5AEAB4-0C24-4BB1-8E63-0961C0FD35F8}"/>
              </a:ext>
            </a:extLst>
          </p:cNvPr>
          <p:cNvSpPr>
            <a:spLocks noGrp="1"/>
          </p:cNvSpPr>
          <p:nvPr/>
        </p:nvSpPr>
        <p:spPr>
          <a:xfrm>
            <a:off x="2038350" y="3257550"/>
            <a:ext cx="76200" cy="66675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EF4B0A-7691-416F-BB89-E5EE060F2E76}"/>
              </a:ext>
            </a:extLst>
          </p:cNvPr>
          <p:cNvSpPr>
            <a:spLocks noGrp="1"/>
          </p:cNvSpPr>
          <p:nvPr/>
        </p:nvSpPr>
        <p:spPr>
          <a:xfrm>
            <a:off x="5000625" y="2838450"/>
            <a:ext cx="2190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 fontScale="94081"/>
          </a:bodyPr>
          <a:lstStyle/>
          <a:p>
            <a:pPr algn="ctr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STORY</a:t>
            </a:r>
          </a:p>
          <a:p>
            <a:pPr algn="ctr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PLATFORM</a:t>
            </a:r>
            <a:endParaRPr sz="28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B10E29-FC44-400E-A480-F54317F3D9DF}"/>
              </a:ext>
            </a:extLst>
          </p:cNvPr>
          <p:cNvSpPr>
            <a:spLocks noGrp="1"/>
          </p:cNvSpPr>
          <p:nvPr/>
        </p:nvSpPr>
        <p:spPr>
          <a:xfrm>
            <a:off x="1905000" y="5476875"/>
            <a:ext cx="838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0402"/>
          </a:bodyPr>
          <a:lstStyle/>
          <a:p>
            <a:pPr algn="ctr">
              <a:defRPr sz="1650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50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rPr>
              <a:t>Minifigures gave LEGO the same primitives used by film, TV, and games: characters, worlds, rules, conflict, and goals.</a:t>
            </a:r>
            <a:endParaRPr sz="1650" b="0">
              <a:solidFill>
                <a:srgbClr val="D6D9E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DDE893-0F0A-40AE-A93F-20E012DFAAAB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Before entering entertainment, LEGO had already built a story platform inside the brick system.</a:t>
            </a:r>
            <a:endParaRPr sz="675" b="0">
              <a:solidFill>
                <a:srgbClr val="7E849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945501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ADCA632-21A8-4161-9543-B061944DB5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75C6B7-0DB6-42F0-9782-BA378436D27B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CA4FF7-171E-4FEB-AFF2-EECB9E29E0D3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CBFC9B-AAA0-4958-A681-482AA2932F20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4">
            <a:extLst>
              <a:ext uri="{FF2B5EF4-FFF2-40B4-BE49-F238E27FC236}">
                <a16:creationId xmlns:a16="http://schemas.microsoft.com/office/drawing/2014/main" id="{7102CABF-AA05-43AD-92AB-DB3E86B3A2EE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D63A78-3506-4DE6-A7E6-7F186E63FF9C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4">
            <a:extLst>
              <a:ext uri="{FF2B5EF4-FFF2-40B4-BE49-F238E27FC236}">
                <a16:creationId xmlns:a16="http://schemas.microsoft.com/office/drawing/2014/main" id="{0FCC979E-71DE-43F0-AB7E-9B9D2FE93D26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43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Licensed Worlds Taught LEGO to Translate Fandom into Buildable Play</a:t>
            </a:r>
            <a:endParaRPr sz="25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E6598F-0B07-4132-BB29-0C0072353E56}"/>
              </a:ext>
            </a:extLst>
          </p:cNvPr>
          <p:cNvSpPr>
            <a:spLocks noGrp="1"/>
          </p:cNvSpPr>
          <p:nvPr/>
        </p:nvSpPr>
        <p:spPr>
          <a:xfrm>
            <a:off x="1143000" y="23431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EXTERNAL IP</a:t>
            </a:r>
            <a:endParaRPr sz="14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80CE5A-84CD-4EE4-995D-22372816E1AD}"/>
              </a:ext>
            </a:extLst>
          </p:cNvPr>
          <p:cNvSpPr>
            <a:spLocks noGrp="1"/>
          </p:cNvSpPr>
          <p:nvPr/>
        </p:nvSpPr>
        <p:spPr>
          <a:xfrm>
            <a:off x="3714750" y="1428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LEGO TRANSLATION</a:t>
            </a:r>
            <a:endParaRPr sz="14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D7F166-6C93-4BB2-9AAD-1208A56DC91D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BUILD / BREAK / REMIX</a:t>
            </a:r>
            <a:endParaRPr sz="14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DCF124-C3CB-4BBD-B70F-157DD7B9A29C}"/>
              </a:ext>
            </a:extLst>
          </p:cNvPr>
          <p:cNvSpPr>
            <a:spLocks noGrp="1"/>
          </p:cNvSpPr>
          <p:nvPr/>
        </p:nvSpPr>
        <p:spPr>
          <a:xfrm>
            <a:off x="9048750" y="1428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00A65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NEW SETS &amp; COLLECTORS</a:t>
            </a:r>
            <a:endParaRPr sz="14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586F64F-962C-4841-8C4D-F6AA298F153F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FANS ENTER PLAY</a:t>
            </a:r>
            <a:endParaRPr sz="14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8491A49-4A0D-4EED-A10D-9FE670637D2D}"/>
              </a:ext>
            </a:extLst>
          </p:cNvPr>
          <p:cNvSpPr>
            <a:spLocks noGrp="1"/>
          </p:cNvSpPr>
          <p:nvPr/>
        </p:nvSpPr>
        <p:spPr>
          <a:xfrm>
            <a:off x="3714750" y="4095750"/>
            <a:ext cx="2000250" cy="723900"/>
          </a:xfrm>
          <a:prstGeom prst="roundRect">
            <a:avLst>
              <a:gd name="adj" fmla="val 2105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BORROWED REACH</a:t>
            </a:r>
            <a:endParaRPr sz="14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4E395C-A3A6-4322-9788-62270A33AACB}"/>
              </a:ext>
            </a:extLst>
          </p:cNvPr>
          <p:cNvSpPr>
            <a:spLocks noGrp="1"/>
          </p:cNvSpPr>
          <p:nvPr/>
        </p:nvSpPr>
        <p:spPr>
          <a:xfrm>
            <a:off x="3067050" y="2619375"/>
            <a:ext cx="5715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7B786D-2828-4E17-8440-95346CBEC6EB}"/>
              </a:ext>
            </a:extLst>
          </p:cNvPr>
          <p:cNvSpPr>
            <a:spLocks noGrp="1"/>
          </p:cNvSpPr>
          <p:nvPr/>
        </p:nvSpPr>
        <p:spPr>
          <a:xfrm>
            <a:off x="5734050" y="2619375"/>
            <a:ext cx="5715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381A28-5F18-4018-95F5-C90377F3E5E7}"/>
              </a:ext>
            </a:extLst>
          </p:cNvPr>
          <p:cNvSpPr>
            <a:spLocks noGrp="1"/>
          </p:cNvSpPr>
          <p:nvPr/>
        </p:nvSpPr>
        <p:spPr>
          <a:xfrm>
            <a:off x="8496300" y="2619375"/>
            <a:ext cx="4572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12FD2D-827D-4BED-A375-12CEF48FE6E5}"/>
              </a:ext>
            </a:extLst>
          </p:cNvPr>
          <p:cNvSpPr>
            <a:spLocks noGrp="1"/>
          </p:cNvSpPr>
          <p:nvPr/>
        </p:nvSpPr>
        <p:spPr>
          <a:xfrm>
            <a:off x="9982200" y="3257550"/>
            <a:ext cx="76200" cy="66675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C51E1-14DD-474C-95F1-562E26C32E6D}"/>
              </a:ext>
            </a:extLst>
          </p:cNvPr>
          <p:cNvSpPr>
            <a:spLocks noGrp="1"/>
          </p:cNvSpPr>
          <p:nvPr/>
        </p:nvSpPr>
        <p:spPr>
          <a:xfrm>
            <a:off x="8496300" y="4448175"/>
            <a:ext cx="4572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149CB9-CCA3-4C99-9EE4-9EF49E38D303}"/>
              </a:ext>
            </a:extLst>
          </p:cNvPr>
          <p:cNvSpPr>
            <a:spLocks noGrp="1"/>
          </p:cNvSpPr>
          <p:nvPr/>
        </p:nvSpPr>
        <p:spPr>
          <a:xfrm>
            <a:off x="5734050" y="4448175"/>
            <a:ext cx="57150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BB3D31-5AA2-4EA9-B09F-5721536B09A3}"/>
              </a:ext>
            </a:extLst>
          </p:cNvPr>
          <p:cNvSpPr>
            <a:spLocks noGrp="1"/>
          </p:cNvSpPr>
          <p:nvPr/>
        </p:nvSpPr>
        <p:spPr>
          <a:xfrm>
            <a:off x="3067050" y="4448175"/>
            <a:ext cx="552450" cy="7620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5AEAB4-0C24-4BB1-8E63-0961C0FD35F8}"/>
              </a:ext>
            </a:extLst>
          </p:cNvPr>
          <p:cNvSpPr>
            <a:spLocks noGrp="1"/>
          </p:cNvSpPr>
          <p:nvPr/>
        </p:nvSpPr>
        <p:spPr>
          <a:xfrm>
            <a:off x="2038350" y="3257550"/>
            <a:ext cx="76200" cy="666750"/>
          </a:xfrm>
          <a:prstGeom prst="rect">
            <a:avLst/>
          </a:prstGeom>
          <a:solidFill>
            <a:srgbClr val="515867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EF4B0A-7691-416F-BB89-E5EE060F2E76}"/>
              </a:ext>
            </a:extLst>
          </p:cNvPr>
          <p:cNvSpPr>
            <a:spLocks noGrp="1"/>
          </p:cNvSpPr>
          <p:nvPr/>
        </p:nvSpPr>
        <p:spPr>
          <a:xfrm>
            <a:off x="5000625" y="2838450"/>
            <a:ext cx="2190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 fontScale="94081"/>
          </a:bodyPr>
          <a:lstStyle/>
          <a:p>
            <a:pPr algn="ctr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IP</a:t>
            </a:r>
          </a:p>
          <a:p>
            <a:pPr algn="ctr"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 BRICKS</a:t>
            </a:r>
            <a:endParaRPr sz="240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B10E29-FC44-400E-A480-F54317F3D9DF}"/>
              </a:ext>
            </a:extLst>
          </p:cNvPr>
          <p:cNvSpPr>
            <a:spLocks noGrp="1"/>
          </p:cNvSpPr>
          <p:nvPr/>
        </p:nvSpPr>
        <p:spPr>
          <a:xfrm>
            <a:off x="1905000" y="5476875"/>
            <a:ext cx="8382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0402"/>
          </a:bodyPr>
          <a:lstStyle/>
          <a:p>
            <a:pPr algn="ctr">
              <a:defRPr sz="1650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50" b="0">
                <a:solidFill>
                  <a:srgbClr val="D6D9E0"/>
                </a:solidFill>
                <a:latin typeface="Microsoft YaHei"/>
                <a:ea typeface="Microsoft YaHei"/>
                <a:cs typeface="Microsoft YaHei"/>
              </a:rPr>
              <a:t>Star Wars proved that a mature audience could be converted into LEGO-shaped demand.</a:t>
            </a:r>
            <a:endParaRPr sz="1650" b="0">
              <a:solidFill>
                <a:srgbClr val="D6D9E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DDE893-0F0A-40AE-A93F-20E012DFAAAB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LEGO's capability was not copying outside IP—it was translating a story into LEGO play.</a:t>
            </a:r>
            <a:endParaRPr sz="675" b="0">
              <a:solidFill>
                <a:srgbClr val="7E849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861081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AB57168-5B8E-44E0-8393-4E12452D73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405965-6049-410F-B52B-08DDBF8BEB98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1376A-8245-4EBB-996F-3304450C8B05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D0039F-C1FE-4BD7-98F8-197B7BC51609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3">
            <a:extLst>
              <a:ext uri="{FF2B5EF4-FFF2-40B4-BE49-F238E27FC236}">
                <a16:creationId xmlns:a16="http://schemas.microsoft.com/office/drawing/2014/main" id="{3743324F-7A76-4833-BB43-839050A054D6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975" b="1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6D552F-D15F-452D-B223-54FE6259BE8B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3">
            <a:extLst>
              <a:ext uri="{FF2B5EF4-FFF2-40B4-BE49-F238E27FC236}">
                <a16:creationId xmlns:a16="http://schemas.microsoft.com/office/drawing/2014/main" id="{86E4BD70-25F7-452F-87CD-A5FD7E55FACD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2004 Crisis Exposed the Cost of Expansion without Core Fit</a:t>
            </a:r>
            <a:endParaRPr sz="2550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F8EF66-8C8C-4723-9D26-40FA3AD0E30F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DKK 6.704B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4AEE82-E2B5-420D-A504-9C0352EEDC2A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2004 REVENUE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023E56-5C0D-4674-BABB-FF28C9AD6775}"/>
              </a:ext>
            </a:extLst>
          </p:cNvPr>
          <p:cNvSpPr>
            <a:spLocks noGrp="1"/>
          </p:cNvSpPr>
          <p:nvPr/>
        </p:nvSpPr>
        <p:spPr>
          <a:xfrm>
            <a:off x="4286250" y="1666875"/>
            <a:ext cx="295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−DKK 1.931B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969FFC-6508-4FD0-A806-D407892727A3}"/>
              </a:ext>
            </a:extLst>
          </p:cNvPr>
          <p:cNvSpPr>
            <a:spLocks noGrp="1"/>
          </p:cNvSpPr>
          <p:nvPr/>
        </p:nvSpPr>
        <p:spPr>
          <a:xfrm>
            <a:off x="4286250" y="2238375"/>
            <a:ext cx="295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2004 NET LOSS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A332F2-E7CF-4BA7-B8D6-895B7FCF8469}"/>
              </a:ext>
            </a:extLst>
          </p:cNvPr>
          <p:cNvSpPr>
            <a:spLocks noGrp="1"/>
          </p:cNvSpPr>
          <p:nvPr/>
        </p:nvSpPr>
        <p:spPr>
          <a:xfrm>
            <a:off x="714375" y="3333750"/>
            <a:ext cx="3429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8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RESPONSE</a:t>
            </a:r>
            <a:endParaRPr sz="1800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CC3BCE-F455-4A73-BDEA-11F6C535CA2C}"/>
              </a:ext>
            </a:extLst>
          </p:cNvPr>
          <p:cNvSpPr>
            <a:spLocks noGrp="1"/>
          </p:cNvSpPr>
          <p:nvPr/>
        </p:nvSpPr>
        <p:spPr>
          <a:xfrm>
            <a:off x="714375" y="3905250"/>
            <a:ext cx="4476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Dispose of or separate non-core, capital-intensive businesses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Transfer electronic-game platforms to licensing partners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Reduce complexity and rebuild capital discipline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E25CD51-DD68-4C5B-84B8-1AF58909860F}"/>
              </a:ext>
            </a:extLst>
          </p:cNvPr>
          <p:cNvSpPr>
            <a:spLocks noGrp="1"/>
          </p:cNvSpPr>
          <p:nvPr/>
        </p:nvSpPr>
        <p:spPr>
          <a:xfrm>
            <a:off x="6715125" y="3333750"/>
            <a:ext cx="1905000" cy="419100"/>
          </a:xfrm>
          <a:prstGeom prst="roundRect">
            <a:avLst>
              <a:gd name="adj" fmla="val 18182"/>
            </a:avLst>
          </a:prstGeom>
          <a:solidFill>
            <a:srgbClr val="161616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65040"/>
          </a:bodyPr>
          <a:lstStyle/>
          <a:p>
            <a:pPr algn="ctr">
              <a:defRPr sz="18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8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STRATEGIC LESSON</a:t>
            </a:r>
            <a:endParaRPr sz="1800" b="1">
              <a:solidFill>
                <a:srgbClr val="FFD5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8E74B5-FD9F-4480-94F5-63366971170D}"/>
              </a:ext>
            </a:extLst>
          </p:cNvPr>
          <p:cNvSpPr>
            <a:spLocks noGrp="1"/>
          </p:cNvSpPr>
          <p:nvPr/>
        </p:nvSpPr>
        <p:spPr>
          <a:xfrm>
            <a:off x="6477000" y="4000500"/>
            <a:ext cx="47625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5139"/>
          </a:bodyPr>
          <a:lstStyle/>
          <a:p>
            <a:pPr algn="l">
              <a:defRPr sz="150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500" b="0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crisis was not caused by entertainment alone. It exposed a broader failure: complexity grew faster than LEGO's capabilities and strategic focus.</a:t>
            </a:r>
            <a:endParaRPr sz="1500" b="0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EB2776-0624-4BF8-93C6-B02A356C1F2C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Source: The LEGO Group Annual Report 2004. Causal interpretation remains deliberately cautious.</a:t>
            </a:r>
          </a:p>
        </p:txBody>
      </p:sp>
    </p:spTree>
    <p:extLst>
      <p:ext uri="{BB962C8B-B14F-4D97-AF65-F5344CB8AC3E}">
        <p14:creationId xmlns:p14="http://schemas.microsoft.com/office/powerpoint/2010/main" val="4068005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0E4F46A-C10E-4705-BEB9-E67B9A9353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BBBD9E-E898-44D8-BFF8-DBE7524A443C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A2E6E-A0A4-4728-8D6B-5A33026AE49C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2437BC-B661-436E-B671-72AC9781A7E1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6">
            <a:extLst>
              <a:ext uri="{FF2B5EF4-FFF2-40B4-BE49-F238E27FC236}">
                <a16:creationId xmlns:a16="http://schemas.microsoft.com/office/drawing/2014/main" id="{F0CEFAF4-E7AB-4F41-A560-649536077A26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01413-16AE-4F25-9539-58239D35EEF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6">
            <a:extLst>
              <a:ext uri="{FF2B5EF4-FFF2-40B4-BE49-F238E27FC236}">
                <a16:creationId xmlns:a16="http://schemas.microsoft.com/office/drawing/2014/main" id="{7BA69E2D-9D87-4F5F-84FB-9DCBC6683913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6878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NINJAGO Turned Product Characters into a Renewable, Owned Story World</a:t>
            </a:r>
            <a:endParaRPr sz="25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 l="15326" r="15326"/>
          <a:stretch>
            <a:fillRect/>
          </a:stretch>
        </p:blipFill>
        <p:spPr>
          <a:xfrm>
            <a:off x="457200" y="1428750"/>
            <a:ext cx="5334000" cy="4095750"/>
          </a:xfrm>
          <a:prstGeom prst="roundRect">
            <a:avLst>
              <a:gd name="adj" fmla="val 2791"/>
            </a:avLst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t="11223" b="11223"/>
          <a:stretch>
            <a:fillRect/>
          </a:stretch>
        </p:blipFill>
        <p:spPr>
          <a:xfrm>
            <a:off x="6000750" y="1428750"/>
            <a:ext cx="5715000" cy="2476500"/>
          </a:xfrm>
          <a:prstGeom prst="roundRect">
            <a:avLst>
              <a:gd name="adj" fmla="val 4615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9DA5C91-D8D6-4ECA-9466-E67462CBE601}"/>
              </a:ext>
            </a:extLst>
          </p:cNvPr>
          <p:cNvSpPr>
            <a:spLocks noGrp="1"/>
          </p:cNvSpPr>
          <p:nvPr/>
        </p:nvSpPr>
        <p:spPr>
          <a:xfrm>
            <a:off x="6191250" y="4143375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500+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D9B102-37E4-4706-A987-BA205DC183FC}"/>
              </a:ext>
            </a:extLst>
          </p:cNvPr>
          <p:cNvSpPr>
            <a:spLocks noGrp="1"/>
          </p:cNvSpPr>
          <p:nvPr/>
        </p:nvSpPr>
        <p:spPr>
          <a:xfrm>
            <a:off x="6191250" y="4714875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SETS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3959E9-B650-4A1F-AE02-651489DAD0A3}"/>
              </a:ext>
            </a:extLst>
          </p:cNvPr>
          <p:cNvSpPr>
            <a:spLocks noGrp="1"/>
          </p:cNvSpPr>
          <p:nvPr/>
        </p:nvSpPr>
        <p:spPr>
          <a:xfrm>
            <a:off x="8001000" y="4143375"/>
            <a:ext cx="1714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200+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8783C-D016-49A4-ACAD-CA4F72C45994}"/>
              </a:ext>
            </a:extLst>
          </p:cNvPr>
          <p:cNvSpPr>
            <a:spLocks noGrp="1"/>
          </p:cNvSpPr>
          <p:nvPr/>
        </p:nvSpPr>
        <p:spPr>
          <a:xfrm>
            <a:off x="8001000" y="471487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TV EPISODES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0C974-A44C-4D57-A880-84A5E01AB58B}"/>
              </a:ext>
            </a:extLst>
          </p:cNvPr>
          <p:cNvSpPr>
            <a:spLocks noGrp="1"/>
          </p:cNvSpPr>
          <p:nvPr/>
        </p:nvSpPr>
        <p:spPr>
          <a:xfrm>
            <a:off x="9906000" y="4143375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8522"/>
          </a:bodyPr>
          <a:lstStyle/>
          <a:p>
            <a:pPr algn="l">
              <a:def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15 YEARS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373EF4-2693-4D5C-B6A9-E8E70B462EB8}"/>
              </a:ext>
            </a:extLst>
          </p:cNvPr>
          <p:cNvSpPr>
            <a:spLocks noGrp="1"/>
          </p:cNvSpPr>
          <p:nvPr/>
        </p:nvSpPr>
        <p:spPr>
          <a:xfrm>
            <a:off x="9906000" y="4714875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D1D5DE"/>
                </a:solidFill>
                <a:latin typeface="Microsoft YaHei"/>
                <a:ea typeface="Microsoft YaHei"/>
                <a:cs typeface="Microsoft YaHei"/>
              </a:rPr>
              <a:t>OWNED ENTERTAINMENT 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7CAA81-EF16-4ED3-8504-17766864FA7C}"/>
              </a:ext>
            </a:extLst>
          </p:cNvPr>
          <p:cNvSpPr>
            <a:spLocks noGrp="1"/>
          </p:cNvSpPr>
          <p:nvPr/>
        </p:nvSpPr>
        <p:spPr>
          <a:xfrm>
            <a:off x="6096000" y="5429250"/>
            <a:ext cx="5429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5442"/>
          </a:bodyPr>
          <a:lstStyle/>
          <a:p>
            <a:pPr algn="l">
              <a:defRPr sz="1350" b="0">
                <a:solidFill>
                  <a:srgbClr val="D5D9E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D5D9E2"/>
                </a:solidFill>
                <a:latin typeface="Microsoft YaHei"/>
                <a:ea typeface="Microsoft YaHei"/>
                <a:cs typeface="Microsoft YaHei"/>
              </a:rPr>
              <a:t>TV became the operating rhythm: stories introduced heroes, villains, vehicles, and locations that returned as new sets and renewed demand.</a:t>
            </a:r>
            <a:endParaRPr sz="1350" b="0">
              <a:solidFill>
                <a:srgbClr val="D5D9E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nav-to-02-←-Back-to-Media-Map">
            <a:hlinkClick r:id="rId5" action="ppaction://hlinksldjump"/>
            <a:extLst>
              <a:ext uri="{FF2B5EF4-FFF2-40B4-BE49-F238E27FC236}">
                <a16:creationId xmlns:a16="http://schemas.microsoft.com/office/drawing/2014/main" id="{C63B7982-9ACA-4477-A917-121D68D17200}"/>
              </a:ext>
            </a:extLst>
          </p:cNvPr>
          <p:cNvSpPr>
            <a:spLocks noGrp="1"/>
          </p:cNvSpPr>
          <p:nvPr/>
        </p:nvSpPr>
        <p:spPr>
          <a:xfrm>
            <a:off x="9667875" y="6076950"/>
            <a:ext cx="1857375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Media Roles</a:t>
            </a:r>
            <a:endParaRPr sz="127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5A8406-CA85-4035-993C-1EA1F08786E5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Source: LEGO NINJAGO 15th Anniversary announcement (2026): longest-running homegrown IP; 500+ sets and 200+ episodes.</a:t>
            </a:r>
          </a:p>
        </p:txBody>
      </p:sp>
    </p:spTree>
    <p:extLst>
      <p:ext uri="{BB962C8B-B14F-4D97-AF65-F5344CB8AC3E}">
        <p14:creationId xmlns:p14="http://schemas.microsoft.com/office/powerpoint/2010/main" val="2747872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5654056-E925-4741-BC1C-0A0C10CF6C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0275DF-4D08-4BD8-9899-F7B145DBA654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58F73-B973-4B1B-B0A4-C9B1748D67E6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2EC95-17F9-4B90-927C-850624B0BCE5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5">
            <a:extLst>
              <a:ext uri="{FF2B5EF4-FFF2-40B4-BE49-F238E27FC236}">
                <a16:creationId xmlns:a16="http://schemas.microsoft.com/office/drawing/2014/main" id="{DAD75D77-D063-4246-9111-92C6E9581591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975" b="1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B089B0-3836-4432-B566-664EE2EE335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5">
            <a:extLst>
              <a:ext uri="{FF2B5EF4-FFF2-40B4-BE49-F238E27FC236}">
                <a16:creationId xmlns:a16="http://schemas.microsoft.com/office/drawing/2014/main" id="{257BDB82-A770-4CF8-9F77-1E3EAF425AAE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LEGO Movie Made LEGO's Play Philosophy the Story</a:t>
            </a:r>
            <a:endParaRPr sz="2550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 l="18445" r="18445"/>
          <a:stretch>
            <a:fillRect/>
          </a:stretch>
        </p:blipFill>
        <p:spPr>
          <a:xfrm>
            <a:off x="457200" y="1428750"/>
            <a:ext cx="619125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BC1BBA-45E5-4F52-9C51-C723F83AD382}"/>
              </a:ext>
            </a:extLst>
          </p:cNvPr>
          <p:cNvSpPr>
            <a:spLocks noGrp="1"/>
          </p:cNvSpPr>
          <p:nvPr/>
        </p:nvSpPr>
        <p:spPr>
          <a:xfrm>
            <a:off x="7143750" y="1581150"/>
            <a:ext cx="3905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≈ $1.1B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E589D3-15CC-4C46-8198-2618B13F6CAF}"/>
              </a:ext>
            </a:extLst>
          </p:cNvPr>
          <p:cNvSpPr>
            <a:spLocks noGrp="1"/>
          </p:cNvSpPr>
          <p:nvPr/>
        </p:nvSpPr>
        <p:spPr>
          <a:xfrm>
            <a:off x="7143750" y="21526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Cumulative worldwide box office of LEGO films by 2020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F73BD0-E337-4B6E-8648-46D0424D8DCD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The film turned LEGO's play philosophy into culture:</a:t>
            </a:r>
            <a:endParaRPr sz="14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85DFA8-AA48-4705-A2CC-0B5AA3DED588}"/>
              </a:ext>
            </a:extLst>
          </p:cNvPr>
          <p:cNvSpPr>
            <a:spLocks noGrp="1"/>
          </p:cNvSpPr>
          <p:nvPr/>
        </p:nvSpPr>
        <p:spPr>
          <a:xfrm>
            <a:off x="7143750" y="3219450"/>
            <a:ext cx="4191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Everything can be rebuilt and recombined</a:t>
            </a:r>
          </a:p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Instructions guide—but do not limit—imagination</a:t>
            </a:r>
          </a:p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Any world can become LEGO play</a:t>
            </a:r>
            <a:endParaRPr sz="135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CDE40-268B-4748-8E95-C8B648B58310}"/>
              </a:ext>
            </a:extLst>
          </p:cNvPr>
          <p:cNvSpPr>
            <a:spLocks noGrp="1"/>
          </p:cNvSpPr>
          <p:nvPr/>
        </p:nvSpPr>
        <p:spPr>
          <a:xfrm>
            <a:off x="7048500" y="4953000"/>
            <a:ext cx="4381500" cy="609600"/>
          </a:xfrm>
          <a:prstGeom prst="roundRect">
            <a:avLst>
              <a:gd name="adj" fmla="val 18750"/>
            </a:avLst>
          </a:prstGeom>
          <a:solidFill>
            <a:srgbClr val="161616"/>
          </a:solidFill>
          <a:ln w="0">
            <a:noFill/>
            <a:prstDash val="solid"/>
          </a:ln>
        </p:spPr>
        <p:txBody>
          <a:bodyPr lIns="38100" tIns="38100" rIns="38100" bIns="38100" anchor="t">
            <a:normAutofit fontScale="75572"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Control the brand, story direction, and product loop; let specialist studios absorb production and distribution risk.</a:t>
            </a:r>
            <a:endParaRPr sz="13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nav-to-02-←-Back-to-Media-Map">
            <a:hlinkClick r:id="rId4" action="ppaction://hlinksldjump"/>
            <a:extLst>
              <a:ext uri="{FF2B5EF4-FFF2-40B4-BE49-F238E27FC236}">
                <a16:creationId xmlns:a16="http://schemas.microsoft.com/office/drawing/2014/main" id="{3DDC1BB4-CDCE-4CF1-885F-0E1792E99C2D}"/>
              </a:ext>
            </a:extLst>
          </p:cNvPr>
          <p:cNvSpPr>
            <a:spLocks noGrp="1"/>
          </p:cNvSpPr>
          <p:nvPr/>
        </p:nvSpPr>
        <p:spPr>
          <a:xfrm>
            <a:off x="9620250" y="5905500"/>
            <a:ext cx="180975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0614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Media Roles</a:t>
            </a:r>
            <a:endParaRPr sz="127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A55C30-CC50-4712-9F8C-C049F6325FC9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Source: Universal Pictures and LEGO Group five-year exclusive film partnership announcement (2020).</a:t>
            </a:r>
          </a:p>
        </p:txBody>
      </p:sp>
    </p:spTree>
    <p:extLst>
      <p:ext uri="{BB962C8B-B14F-4D97-AF65-F5344CB8AC3E}">
        <p14:creationId xmlns:p14="http://schemas.microsoft.com/office/powerpoint/2010/main" val="2312994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B80647D-A696-4004-A5C6-9DACDD7CEB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CF4414-19CC-445A-9ECD-AEE53E8EB1DF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BA6E18-EBEF-401E-A6A4-899B567644D0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54A940-D2EA-4B69-B9D6-BDB6415B5BE9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8">
            <a:extLst>
              <a:ext uri="{FF2B5EF4-FFF2-40B4-BE49-F238E27FC236}">
                <a16:creationId xmlns:a16="http://schemas.microsoft.com/office/drawing/2014/main" id="{AC6B284F-704A-4A52-A185-FE340079B644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499D0C-3544-4150-B9F1-07C3ED08DF3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8">
            <a:extLst>
              <a:ext uri="{FF2B5EF4-FFF2-40B4-BE49-F238E27FC236}">
                <a16:creationId xmlns:a16="http://schemas.microsoft.com/office/drawing/2014/main" id="{864E6909-D852-443D-A8B3-4A4BC0B53979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LEGO Fortnite Turned One-Off Content into a Persistent Relationship</a:t>
            </a:r>
            <a:endParaRPr sz="25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rcRect l="1786" r="1786"/>
          <a:stretch>
            <a:fillRect/>
          </a:stretch>
        </p:blipFill>
        <p:spPr>
          <a:xfrm>
            <a:off x="457200" y="1428750"/>
            <a:ext cx="6858000" cy="4000500"/>
          </a:xfrm>
          <a:prstGeom prst="roundRect">
            <a:avLst>
              <a:gd name="adj" fmla="val 2857"/>
            </a:avLst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rcRect t="16570" b="16570"/>
          <a:stretch>
            <a:fillRect/>
          </a:stretch>
        </p:blipFill>
        <p:spPr>
          <a:xfrm>
            <a:off x="7620000" y="1428750"/>
            <a:ext cx="4095750" cy="2190750"/>
          </a:xfrm>
          <a:prstGeom prst="roundRect">
            <a:avLst>
              <a:gd name="adj" fmla="val 5217"/>
            </a:avLst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3BD18F6-3377-4D5D-AB0C-C996DB21A5A8}"/>
              </a:ext>
            </a:extLst>
          </p:cNvPr>
          <p:cNvSpPr>
            <a:spLocks noGrp="1"/>
          </p:cNvSpPr>
          <p:nvPr/>
        </p:nvSpPr>
        <p:spPr>
          <a:xfrm>
            <a:off x="7639050" y="39052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5634"/>
          </a:bodyPr>
          <a:lstStyle/>
          <a:p>
            <a:pPr algn="l">
              <a:defRPr sz="16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5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DIGITAL WORLD</a:t>
            </a:r>
            <a:endParaRPr sz="1650" b="1">
              <a:solidFill>
                <a:srgbClr val="006DB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C8E76-B264-47B3-AB7D-A301EB8A3348}"/>
              </a:ext>
            </a:extLst>
          </p:cNvPr>
          <p:cNvSpPr>
            <a:spLocks noGrp="1"/>
          </p:cNvSpPr>
          <p:nvPr/>
        </p:nvSpPr>
        <p:spPr>
          <a:xfrm>
            <a:off x="7639050" y="428625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D2D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>
                <a:solidFill>
                  <a:srgbClr val="D2D6DE"/>
                </a:solidFill>
                <a:latin typeface="Microsoft YaHei"/>
                <a:ea typeface="Microsoft YaHei"/>
                <a:cs typeface="Microsoft YaHei"/>
              </a:rPr>
              <a:t>Open worlds, live updates, community creation, and daily participation</a:t>
            </a:r>
            <a:endParaRPr sz="1275" b="0">
              <a:solidFill>
                <a:srgbClr val="D2D6D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CD01FF-C93B-452E-A0CF-135F0E236E23}"/>
              </a:ext>
            </a:extLst>
          </p:cNvPr>
          <p:cNvSpPr>
            <a:spLocks noGrp="1"/>
          </p:cNvSpPr>
          <p:nvPr/>
        </p:nvSpPr>
        <p:spPr>
          <a:xfrm>
            <a:off x="7639050" y="495300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157"/>
          </a:bodyPr>
          <a:lstStyle/>
          <a:p>
            <a:pPr algn="l">
              <a:defRPr sz="16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RETURN TO THE BRICK</a:t>
            </a:r>
            <a:endParaRPr sz="1650" b="1">
              <a:solidFill>
                <a:srgbClr val="00A65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197BE2-D332-43C1-AE5E-EBE5FA62FF4E}"/>
              </a:ext>
            </a:extLst>
          </p:cNvPr>
          <p:cNvSpPr>
            <a:spLocks noGrp="1"/>
          </p:cNvSpPr>
          <p:nvPr/>
        </p:nvSpPr>
        <p:spPr>
          <a:xfrm>
            <a:off x="7639050" y="5334000"/>
            <a:ext cx="3857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D2D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>
                <a:solidFill>
                  <a:srgbClr val="D2D6DE"/>
                </a:solidFill>
                <a:latin typeface="Microsoft YaHei"/>
                <a:ea typeface="Microsoft YaHei"/>
                <a:cs typeface="Microsoft YaHei"/>
              </a:rPr>
              <a:t>Digital characters, places, and mechanics can become sets—and sets can pull players back online</a:t>
            </a:r>
            <a:endParaRPr sz="1275" b="0">
              <a:solidFill>
                <a:srgbClr val="D2D6D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nav-to-02-←-Back-to-Media-Map">
            <a:hlinkClick r:id="rId5" action="ppaction://hlinksldjump"/>
            <a:extLst>
              <a:ext uri="{FF2B5EF4-FFF2-40B4-BE49-F238E27FC236}">
                <a16:creationId xmlns:a16="http://schemas.microsoft.com/office/drawing/2014/main" id="{EFBD4EC5-35DE-45FB-B130-87C168FBDBD5}"/>
              </a:ext>
            </a:extLst>
          </p:cNvPr>
          <p:cNvSpPr>
            <a:spLocks noGrp="1"/>
          </p:cNvSpPr>
          <p:nvPr/>
        </p:nvSpPr>
        <p:spPr>
          <a:xfrm>
            <a:off x="9620250" y="6076950"/>
            <a:ext cx="190500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 fontScale="91997"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Media Roles</a:t>
            </a:r>
            <a:endParaRPr sz="127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35F7E2-8A83-4F22-A0E4-551AA1508EC1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Sources: LEGO Fortnite releases (2023–2025); LEGO Group Annual Report 2025.</a:t>
            </a:r>
          </a:p>
        </p:txBody>
      </p:sp>
    </p:spTree>
    <p:extLst>
      <p:ext uri="{BB962C8B-B14F-4D97-AF65-F5344CB8AC3E}">
        <p14:creationId xmlns:p14="http://schemas.microsoft.com/office/powerpoint/2010/main" val="3113898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5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5AAB308-BDB3-4357-9E01-C91A471EED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414AF9-D719-409E-9E73-9A9FB520ABEB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C59787-5780-49D5-A6A8-9E510BC3871B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1E666B-5088-4B2C-AB76-06BF8AF05DFD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9">
            <a:extLst>
              <a:ext uri="{FF2B5EF4-FFF2-40B4-BE49-F238E27FC236}">
                <a16:creationId xmlns:a16="http://schemas.microsoft.com/office/drawing/2014/main" id="{A13FCF76-436C-431D-9636-A5A91C1B44CC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2FEC3-C5C1-47A5-914E-C2D5F3074D83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9">
            <a:extLst>
              <a:ext uri="{FF2B5EF4-FFF2-40B4-BE49-F238E27FC236}">
                <a16:creationId xmlns:a16="http://schemas.microsoft.com/office/drawing/2014/main" id="{3BF88695-11C1-4208-8C7F-0C0A8107634F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3037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Film, TV, Games, and Platforms Perform Different Jobs in One IP System</a:t>
            </a:r>
            <a:endParaRPr sz="2550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C26654-BCA4-4E42-818C-5496B2E66228}"/>
              </a:ext>
            </a:extLst>
          </p:cNvPr>
          <p:cNvSpPr>
            <a:spLocks noGrp="1"/>
          </p:cNvSpPr>
          <p:nvPr/>
        </p:nvSpPr>
        <p:spPr>
          <a:xfrm>
            <a:off x="457200" y="1666875"/>
            <a:ext cx="2533650" cy="3714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A155F6-1937-4CFB-98FE-C0C7443EA6EF}"/>
              </a:ext>
            </a:extLst>
          </p:cNvPr>
          <p:cNvSpPr>
            <a:spLocks noGrp="1"/>
          </p:cNvSpPr>
          <p:nvPr/>
        </p:nvSpPr>
        <p:spPr>
          <a:xfrm>
            <a:off x="457200" y="1666875"/>
            <a:ext cx="2533650" cy="17145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D3612-6D5A-43B8-BF2A-7779A638AD14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FILM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8318E1-9CFB-40DF-9138-07477668659D}"/>
              </a:ext>
            </a:extLst>
          </p:cNvPr>
          <p:cNvSpPr>
            <a:spLocks noGrp="1"/>
          </p:cNvSpPr>
          <p:nvPr/>
        </p:nvSpPr>
        <p:spPr>
          <a:xfrm>
            <a:off x="628650" y="2809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BURST REACH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8A6BE4-2970-4508-9ED7-C4D26C339D10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Turns play into culture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08BE1E-399E-4D5E-A342-680B363300C4}"/>
              </a:ext>
            </a:extLst>
          </p:cNvPr>
          <p:cNvSpPr>
            <a:spLocks noGrp="1"/>
          </p:cNvSpPr>
          <p:nvPr/>
        </p:nvSpPr>
        <p:spPr>
          <a:xfrm>
            <a:off x="628650" y="4762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REACH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66970F-6C95-4A89-AE0E-C4FB3837CBA0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2533650" cy="3714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21773B-A9D9-4B3F-9A7B-7C3575DFCC88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2533650" cy="171450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F37238-32EC-45C7-BF3C-E8BF348FE54E}"/>
              </a:ext>
            </a:extLst>
          </p:cNvPr>
          <p:cNvSpPr>
            <a:spLocks noGrp="1"/>
          </p:cNvSpPr>
          <p:nvPr/>
        </p:nvSpPr>
        <p:spPr>
          <a:xfrm>
            <a:off x="3429000" y="2133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TV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55B75E-8C80-4F66-A4AC-31673B4A077E}"/>
              </a:ext>
            </a:extLst>
          </p:cNvPr>
          <p:cNvSpPr>
            <a:spLocks noGrp="1"/>
          </p:cNvSpPr>
          <p:nvPr/>
        </p:nvSpPr>
        <p:spPr>
          <a:xfrm>
            <a:off x="3429000" y="2809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CONTINUITY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ECD92C-D204-4167-A709-55389B7FEA5B}"/>
              </a:ext>
            </a:extLst>
          </p:cNvPr>
          <p:cNvSpPr>
            <a:spLocks noGrp="1"/>
          </p:cNvSpPr>
          <p:nvPr/>
        </p:nvSpPr>
        <p:spPr>
          <a:xfrm>
            <a:off x="3429000" y="3476625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Lets characters and worlds compound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67B13C-1191-4BBC-8774-9F661A933806}"/>
              </a:ext>
            </a:extLst>
          </p:cNvPr>
          <p:cNvSpPr>
            <a:spLocks noGrp="1"/>
          </p:cNvSpPr>
          <p:nvPr/>
        </p:nvSpPr>
        <p:spPr>
          <a:xfrm>
            <a:off x="3429000" y="4762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CONTINUITY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2B70972-3402-4A5C-B5DF-A7BFBD7EDBC6}"/>
              </a:ext>
            </a:extLst>
          </p:cNvPr>
          <p:cNvSpPr>
            <a:spLocks noGrp="1"/>
          </p:cNvSpPr>
          <p:nvPr/>
        </p:nvSpPr>
        <p:spPr>
          <a:xfrm>
            <a:off x="6057900" y="1666875"/>
            <a:ext cx="2533650" cy="3714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4DB40F-F665-4D16-A6BE-34E842371E22}"/>
              </a:ext>
            </a:extLst>
          </p:cNvPr>
          <p:cNvSpPr>
            <a:spLocks noGrp="1"/>
          </p:cNvSpPr>
          <p:nvPr/>
        </p:nvSpPr>
        <p:spPr>
          <a:xfrm>
            <a:off x="6057900" y="1666875"/>
            <a:ext cx="2533650" cy="171450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28A79D-89CC-40F2-B5CE-F404FDE5630E}"/>
              </a:ext>
            </a:extLst>
          </p:cNvPr>
          <p:cNvSpPr>
            <a:spLocks noGrp="1"/>
          </p:cNvSpPr>
          <p:nvPr/>
        </p:nvSpPr>
        <p:spPr>
          <a:xfrm>
            <a:off x="6229350" y="2133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21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GAMES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4BD6C6-1714-4824-81B7-5423EA367406}"/>
              </a:ext>
            </a:extLst>
          </p:cNvPr>
          <p:cNvSpPr>
            <a:spLocks noGrp="1"/>
          </p:cNvSpPr>
          <p:nvPr/>
        </p:nvSpPr>
        <p:spPr>
          <a:xfrm>
            <a:off x="6229350" y="2809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AGENCY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709B2D-DF2E-4F23-84E3-839C9230C4BD}"/>
              </a:ext>
            </a:extLst>
          </p:cNvPr>
          <p:cNvSpPr>
            <a:spLocks noGrp="1"/>
          </p:cNvSpPr>
          <p:nvPr/>
        </p:nvSpPr>
        <p:spPr>
          <a:xfrm>
            <a:off x="6229350" y="3476625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Lets players remake the world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992050-27A4-46F3-84BF-0A86B8BA1CDC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AGENCY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FB3E5A5-D37D-4AAA-BB5B-C5A1224A48ED}"/>
              </a:ext>
            </a:extLst>
          </p:cNvPr>
          <p:cNvSpPr>
            <a:spLocks noGrp="1"/>
          </p:cNvSpPr>
          <p:nvPr/>
        </p:nvSpPr>
        <p:spPr>
          <a:xfrm>
            <a:off x="8858250" y="1666875"/>
            <a:ext cx="2533650" cy="37147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D6CEB9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3268C6-1048-4E07-929B-6471C3FF0203}"/>
              </a:ext>
            </a:extLst>
          </p:cNvPr>
          <p:cNvSpPr>
            <a:spLocks noGrp="1"/>
          </p:cNvSpPr>
          <p:nvPr/>
        </p:nvSpPr>
        <p:spPr>
          <a:xfrm>
            <a:off x="8858250" y="1666875"/>
            <a:ext cx="2533650" cy="171450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AAB3489-6DB8-475F-8D34-B90DA22FC8EC}"/>
              </a:ext>
            </a:extLst>
          </p:cNvPr>
          <p:cNvSpPr>
            <a:spLocks noGrp="1"/>
          </p:cNvSpPr>
          <p:nvPr/>
        </p:nvSpPr>
        <p:spPr>
          <a:xfrm>
            <a:off x="9029700" y="2133600"/>
            <a:ext cx="2095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8836"/>
          </a:bodyPr>
          <a:lstStyle/>
          <a:p>
            <a:pPr algn="l">
              <a:defRPr sz="21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DIGITAL PLATFORMS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89A016F-06B0-43BD-8679-4CDE52ADA4CE}"/>
              </a:ext>
            </a:extLst>
          </p:cNvPr>
          <p:cNvSpPr>
            <a:spLocks noGrp="1"/>
          </p:cNvSpPr>
          <p:nvPr/>
        </p:nvSpPr>
        <p:spPr>
          <a:xfrm>
            <a:off x="9029700" y="2809875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RECURRENCE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AFD6FD-21B3-4294-B9A4-3039BF0B5ABD}"/>
              </a:ext>
            </a:extLst>
          </p:cNvPr>
          <p:cNvSpPr>
            <a:spLocks noGrp="1"/>
          </p:cNvSpPr>
          <p:nvPr/>
        </p:nvSpPr>
        <p:spPr>
          <a:xfrm>
            <a:off x="9029700" y="3476625"/>
            <a:ext cx="2095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Connects content, community, data, and products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2D9667-2A39-4E8D-B7F6-90BDB2152523}"/>
              </a:ext>
            </a:extLst>
          </p:cNvPr>
          <p:cNvSpPr>
            <a:spLocks noGrp="1"/>
          </p:cNvSpPr>
          <p:nvPr/>
        </p:nvSpPr>
        <p:spPr>
          <a:xfrm>
            <a:off x="9029700" y="4762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RECURRENCE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9FFEFD-1B22-4FA7-95D8-2097C9936E1C}"/>
              </a:ext>
            </a:extLst>
          </p:cNvPr>
          <p:cNvSpPr>
            <a:spLocks noGrp="1"/>
          </p:cNvSpPr>
          <p:nvPr/>
        </p:nvSpPr>
        <p:spPr>
          <a:xfrm>
            <a:off x="1476375" y="5810250"/>
            <a:ext cx="923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6087"/>
          </a:bodyPr>
          <a:lstStyle/>
          <a:p>
            <a:pPr algn="ctr">
              <a:defRPr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72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Film creates peaks; TV compounds relationships; games create agency; platforms sustain participation.</a:t>
            </a:r>
            <a:endParaRPr sz="172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9FC68F-A1EF-4795-B2D2-ADA9E93BBDB7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Together, the four media extend IP life and feed new demand back to physical play.</a:t>
            </a:r>
            <a:endParaRPr sz="675" b="0">
              <a:solidFill>
                <a:srgbClr val="8A85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09436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02F9D0F-F41D-4A7B-80B0-35A5F81880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260E23-9C41-4335-91CC-A96C37872081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4659E-C1A5-49E8-8AF7-5DDFE4836140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FF8D06-081B-4EF6-B0DC-4E5C20AC40E5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1">
            <a:extLst>
              <a:ext uri="{FF2B5EF4-FFF2-40B4-BE49-F238E27FC236}">
                <a16:creationId xmlns:a16="http://schemas.microsoft.com/office/drawing/2014/main" id="{DA15B31B-C2E2-4D56-AFC0-6081224E68BE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975" b="1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94CE29-BE77-4A3B-AB79-CD68B2B8BCF6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1">
            <a:extLst>
              <a:ext uri="{FF2B5EF4-FFF2-40B4-BE49-F238E27FC236}">
                <a16:creationId xmlns:a16="http://schemas.microsoft.com/office/drawing/2014/main" id="{C84219B9-44C7-4804-877D-41C3E878CC28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Entertainment Changed LEGO from Selling Products to Managing a Play Ecosystem</a:t>
            </a:r>
            <a:endParaRPr sz="2550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1DE1C8-62A6-4D06-892E-BCEF7C091DF3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PHYSICAL BRICKS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31E4D4-04FB-48A8-BBDC-4AE11C552A87}"/>
              </a:ext>
            </a:extLst>
          </p:cNvPr>
          <p:cNvSpPr>
            <a:spLocks noGrp="1"/>
          </p:cNvSpPr>
          <p:nvPr/>
        </p:nvSpPr>
        <p:spPr>
          <a:xfrm>
            <a:off x="3143250" y="1476375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CHARACTERS &amp; STORIES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0EB2EE-E3FE-4344-88F1-E71361D31500}"/>
              </a:ext>
            </a:extLst>
          </p:cNvPr>
          <p:cNvSpPr>
            <a:spLocks noGrp="1"/>
          </p:cNvSpPr>
          <p:nvPr/>
        </p:nvSpPr>
        <p:spPr>
          <a:xfrm>
            <a:off x="5667375" y="238125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FILM / TV / GAMES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FE8A39-3208-4BCD-92D4-BFD625EF1327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00A65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ENGAGEMENT &amp; COMMUNITY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4C88B9-50AE-4EE2-B59C-F65269076F3F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NEW SETS / NEW PLAY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106A75-4B7A-419B-9FA6-8AC474460D95}"/>
              </a:ext>
            </a:extLst>
          </p:cNvPr>
          <p:cNvSpPr>
            <a:spLocks noGrp="1"/>
          </p:cNvSpPr>
          <p:nvPr/>
        </p:nvSpPr>
        <p:spPr>
          <a:xfrm>
            <a:off x="3143250" y="40005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INSIGHT &amp; IDEAS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2E268D-D12A-4E0A-8E3B-AA3D689401DC}"/>
              </a:ext>
            </a:extLst>
          </p:cNvPr>
          <p:cNvSpPr>
            <a:spLocks noGrp="1"/>
          </p:cNvSpPr>
          <p:nvPr/>
        </p:nvSpPr>
        <p:spPr>
          <a:xfrm>
            <a:off x="3524250" y="3162300"/>
            <a:ext cx="5048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81189"/>
          </a:bodyPr>
          <a:lstStyle/>
          <a:p>
            <a:pPr algn="ctr">
              <a:def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SHARED: brand, minifigure grammar, compatibility, design capability, retail channels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583F5F-4C57-49E3-8009-D84FF39F3541}"/>
              </a:ext>
            </a:extLst>
          </p:cNvPr>
          <p:cNvSpPr>
            <a:spLocks noGrp="1"/>
          </p:cNvSpPr>
          <p:nvPr/>
        </p:nvSpPr>
        <p:spPr>
          <a:xfrm>
            <a:off x="10191750" y="2333625"/>
            <a:ext cx="1285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BEFORE</a:t>
            </a:r>
            <a:endParaRPr sz="1800" b="1">
              <a:solidFill>
                <a:srgbClr val="00A65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A58C1A-7E1F-4347-B998-700FD8824620}"/>
              </a:ext>
            </a:extLst>
          </p:cNvPr>
          <p:cNvSpPr>
            <a:spLocks noGrp="1"/>
          </p:cNvSpPr>
          <p:nvPr/>
        </p:nvSpPr>
        <p:spPr>
          <a:xfrm>
            <a:off x="9906000" y="2952750"/>
            <a:ext cx="1714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Design more sets</a:t>
            </a:r>
          </a:p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Sell through more markets</a:t>
            </a:r>
            <a:endParaRPr sz="120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E20F51-F8FC-4465-83C9-69CDBAB9A630}"/>
              </a:ext>
            </a:extLst>
          </p:cNvPr>
          <p:cNvSpPr>
            <a:spLocks noGrp="1"/>
          </p:cNvSpPr>
          <p:nvPr/>
        </p:nvSpPr>
        <p:spPr>
          <a:xfrm>
            <a:off x="10191750" y="4267200"/>
            <a:ext cx="1285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6806"/>
          </a:bodyPr>
          <a:lstStyle/>
          <a:p>
            <a:pPr algn="ctr">
              <a:defRPr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NOW</a:t>
            </a:r>
            <a:endParaRPr sz="1800" b="1">
              <a:solidFill>
                <a:srgbClr val="E223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F11905-8F5B-4D6A-B703-BA843F40CB63}"/>
              </a:ext>
            </a:extLst>
          </p:cNvPr>
          <p:cNvSpPr>
            <a:spLocks noGrp="1"/>
          </p:cNvSpPr>
          <p:nvPr/>
        </p:nvSpPr>
        <p:spPr>
          <a:xfrm>
            <a:off x="9791700" y="4876800"/>
            <a:ext cx="1952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Create worlds and relationships</a:t>
            </a:r>
          </a:p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Renew physical and digital play</a:t>
            </a:r>
            <a:endParaRPr sz="120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00A2E4-D664-412A-9B46-F5AE5700E0C6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Entertainment shifts LEGO from one-off product sales toward a system that repeatedly generates stories, participation, and products.</a:t>
            </a:r>
            <a:endParaRPr sz="675" b="0">
              <a:solidFill>
                <a:srgbClr val="8A85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18148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A14C501-AB9C-4A60-9A00-9C38AFCB19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5D51E4-EE9F-4C72-8F77-32EFC89739BE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0129DE-6B4C-4471-8B13-B0788F02E9C0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D0E37D-C697-4AAB-912A-C7AD8684F6E9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4">
            <a:extLst>
              <a:ext uri="{FF2B5EF4-FFF2-40B4-BE49-F238E27FC236}">
                <a16:creationId xmlns:a16="http://schemas.microsoft.com/office/drawing/2014/main" id="{0AECAAF0-2F1C-4C58-8E67-B3757F92901C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975" b="1">
              <a:solidFill>
                <a:srgbClr val="8F96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CB9F0B-B41B-4FF6-99CC-ADE6F62CD3BD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4">
            <a:extLst>
              <a:ext uri="{FF2B5EF4-FFF2-40B4-BE49-F238E27FC236}">
                <a16:creationId xmlns:a16="http://schemas.microsoft.com/office/drawing/2014/main" id="{0F309772-4CC4-4BC7-9E10-B034290493CA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765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Three Paths Forward—and Only One Balances Growth, Control, and Complexity</a:t>
            </a:r>
            <a:endParaRPr sz="25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01D84BC-7F52-47B6-AC79-149D3404A09D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3429000" cy="3714750"/>
          </a:xfrm>
          <a:prstGeom prst="roundRect">
            <a:avLst>
              <a:gd name="adj" fmla="val 4444"/>
            </a:avLst>
          </a:prstGeom>
          <a:solidFill>
            <a:srgbClr val="151820"/>
          </a:solidFill>
          <a:ln w="9525">
            <a:solidFill>
              <a:srgbClr val="313744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AAE6A3-AF0F-4D9C-A610-0C3A74298AE7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24585C-114F-48BD-8CDF-E3E75F9E57FF}"/>
              </a:ext>
            </a:extLst>
          </p:cNvPr>
          <p:cNvSpPr>
            <a:spLocks noGrp="1"/>
          </p:cNvSpPr>
          <p:nvPr/>
        </p:nvSpPr>
        <p:spPr>
          <a:xfrm>
            <a:off x="895350" y="27622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9359"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BRICK-ONLY EXTENSION</a:t>
            </a:r>
            <a:endParaRPr sz="19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>
            <a:hlinkClick r:id="rId3" action="ppaction://hlinksldjump"/>
            <a:extLst>
              <a:ext uri="{FF2B5EF4-FFF2-40B4-BE49-F238E27FC236}">
                <a16:creationId xmlns:a16="http://schemas.microsoft.com/office/drawing/2014/main" id="{C7368ED8-CFF5-4C66-AC8D-184DC5BF7C72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rPr>
              <a:t>LOWEST RISK / LIMITED UPSIDE</a:t>
            </a:r>
            <a:endParaRPr sz="1275" b="0">
              <a:solidFill>
                <a:srgbClr val="ABB1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76293E-1523-4265-A013-346B67FD02B7}"/>
              </a:ext>
            </a:extLst>
          </p:cNvPr>
          <p:cNvSpPr>
            <a:spLocks noGrp="1"/>
          </p:cNvSpPr>
          <p:nvPr/>
        </p:nvSpPr>
        <p:spPr>
          <a:xfrm>
            <a:off x="895350" y="42100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Treat entertainment mainly as marketing</a:t>
            </a:r>
            <a:endParaRPr sz="1275" b="1">
              <a:solidFill>
                <a:srgbClr val="E223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nav-to-15-Explore-This-Path-→">
            <a:hlinkClick r:id="" action="ppaction://noaction"/>
            <a:extLst>
              <a:ext uri="{FF2B5EF4-FFF2-40B4-BE49-F238E27FC236}">
                <a16:creationId xmlns:a16="http://schemas.microsoft.com/office/drawing/2014/main" id="{634DBBC7-992F-4FE8-8F84-D62DF3A1B279}"/>
              </a:ext>
            </a:extLst>
          </p:cNvPr>
          <p:cNvSpPr>
            <a:spLocks noGrp="1"/>
          </p:cNvSpPr>
          <p:nvPr/>
        </p:nvSpPr>
        <p:spPr>
          <a:xfrm>
            <a:off x="895350" y="4953000"/>
            <a:ext cx="2952750" cy="457200"/>
          </a:xfrm>
          <a:prstGeom prst="roundRect">
            <a:avLst>
              <a:gd name="adj" fmla="val 25000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LOWEST RISK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EB9830E-EE2E-4F25-BD0C-00BB5C3A64BD}"/>
              </a:ext>
            </a:extLst>
          </p:cNvPr>
          <p:cNvSpPr>
            <a:spLocks noGrp="1"/>
          </p:cNvSpPr>
          <p:nvPr/>
        </p:nvSpPr>
        <p:spPr>
          <a:xfrm>
            <a:off x="4524375" y="1619250"/>
            <a:ext cx="3429000" cy="3714750"/>
          </a:xfrm>
          <a:prstGeom prst="roundRect">
            <a:avLst>
              <a:gd name="adj" fmla="val 4444"/>
            </a:avLst>
          </a:prstGeom>
          <a:solidFill>
            <a:srgbClr val="151820"/>
          </a:solidFill>
          <a:ln w="9525">
            <a:solidFill>
              <a:srgbClr val="313744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07270B3-8683-4E0A-8FC2-905B4B19A932}"/>
              </a:ext>
            </a:extLst>
          </p:cNvPr>
          <p:cNvSpPr>
            <a:spLocks noGrp="1"/>
          </p:cNvSpPr>
          <p:nvPr/>
        </p:nvSpPr>
        <p:spPr>
          <a:xfrm>
            <a:off x="4752975" y="190500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24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557037-95FD-4656-A687-51A483ABF9D3}"/>
              </a:ext>
            </a:extLst>
          </p:cNvPr>
          <p:cNvSpPr>
            <a:spLocks noGrp="1"/>
          </p:cNvSpPr>
          <p:nvPr/>
        </p:nvSpPr>
        <p:spPr>
          <a:xfrm>
            <a:off x="4752975" y="27622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9359"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FULL ENTERTAINMENT GROUP</a:t>
            </a:r>
            <a:endParaRPr sz="19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04F462-E6CE-494A-B963-1BE3B12C1AEC}"/>
              </a:ext>
            </a:extLst>
          </p:cNvPr>
          <p:cNvSpPr>
            <a:spLocks noGrp="1"/>
          </p:cNvSpPr>
          <p:nvPr/>
        </p:nvSpPr>
        <p:spPr>
          <a:xfrm>
            <a:off x="4752975" y="3619500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rPr>
              <a:t>HIGHEST CONTROL / HIGHEST COMPLEXITY</a:t>
            </a:r>
            <a:endParaRPr sz="1275" b="0">
              <a:solidFill>
                <a:srgbClr val="ABB1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69BAD8-2047-49D7-A55C-56D4EC849238}"/>
              </a:ext>
            </a:extLst>
          </p:cNvPr>
          <p:cNvSpPr>
            <a:spLocks noGrp="1"/>
          </p:cNvSpPr>
          <p:nvPr/>
        </p:nvSpPr>
        <p:spPr>
          <a:xfrm>
            <a:off x="4752975" y="42100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Own studios, games, and platforms</a:t>
            </a:r>
            <a:endParaRPr sz="1275" b="1">
              <a:solidFill>
                <a:srgbClr val="FFD5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nav-to-16-Explore-This-Path-→">
            <a:hlinkClick r:id="rId3" action="ppaction://hlinksldjump"/>
            <a:extLst>
              <a:ext uri="{FF2B5EF4-FFF2-40B4-BE49-F238E27FC236}">
                <a16:creationId xmlns:a16="http://schemas.microsoft.com/office/drawing/2014/main" id="{315E7516-D562-4103-A5A2-D4A18ADF7FD5}"/>
              </a:ext>
            </a:extLst>
          </p:cNvPr>
          <p:cNvSpPr>
            <a:spLocks noGrp="1"/>
          </p:cNvSpPr>
          <p:nvPr/>
        </p:nvSpPr>
        <p:spPr>
          <a:xfrm>
            <a:off x="4752975" y="4953000"/>
            <a:ext cx="2952750" cy="457200"/>
          </a:xfrm>
          <a:prstGeom prst="roundRect">
            <a:avLst>
              <a:gd name="adj" fmla="val 25000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HIGHEST RISK</a:t>
            </a:r>
            <a:endParaRPr sz="1275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6CFACA4-BFCF-4EB2-88D6-2D3DD56E8818}"/>
              </a:ext>
            </a:extLst>
          </p:cNvPr>
          <p:cNvSpPr>
            <a:spLocks noGrp="1"/>
          </p:cNvSpPr>
          <p:nvPr/>
        </p:nvSpPr>
        <p:spPr>
          <a:xfrm>
            <a:off x="8382000" y="1619250"/>
            <a:ext cx="3429000" cy="3714750"/>
          </a:xfrm>
          <a:prstGeom prst="roundRect">
            <a:avLst>
              <a:gd name="adj" fmla="val 4444"/>
            </a:avLst>
          </a:prstGeom>
          <a:solidFill>
            <a:srgbClr val="151820"/>
          </a:solidFill>
          <a:ln w="9525">
            <a:solidFill>
              <a:srgbClr val="313744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D3D11B3-8B98-4AB6-800D-3DE2F89CCDFA}"/>
              </a:ext>
            </a:extLst>
          </p:cNvPr>
          <p:cNvSpPr>
            <a:spLocks noGrp="1"/>
          </p:cNvSpPr>
          <p:nvPr/>
        </p:nvSpPr>
        <p:spPr>
          <a:xfrm>
            <a:off x="8610600" y="190500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E3DFFE-FACD-4B19-8092-FD650D7A8C36}"/>
              </a:ext>
            </a:extLst>
          </p:cNvPr>
          <p:cNvSpPr>
            <a:spLocks noGrp="1"/>
          </p:cNvSpPr>
          <p:nvPr/>
        </p:nvSpPr>
        <p:spPr>
          <a:xfrm>
            <a:off x="8610600" y="27622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9359"/>
          </a:bodyPr>
          <a:lstStyle/>
          <a:p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ECOSYSTEM ORCHESTRATOR</a:t>
            </a:r>
            <a:endParaRPr sz="19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D835E2-F8DD-4D31-8FA7-945A2B9223F2}"/>
              </a:ext>
            </a:extLst>
          </p:cNvPr>
          <p:cNvSpPr>
            <a:spLocks noGrp="1"/>
          </p:cNvSpPr>
          <p:nvPr/>
        </p:nvSpPr>
        <p:spPr>
          <a:xfrm>
            <a:off x="8610600" y="3619500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0">
                <a:solidFill>
                  <a:srgbClr val="ABB1BD"/>
                </a:solidFill>
                <a:latin typeface="Microsoft YaHei"/>
                <a:ea typeface="Microsoft YaHei"/>
                <a:cs typeface="Microsoft YaHei"/>
              </a:rPr>
              <a:t>OWN CORE / PARTNER EXECUTION</a:t>
            </a:r>
            <a:endParaRPr sz="1275" b="0">
              <a:solidFill>
                <a:srgbClr val="ABB1B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D315F5-D0EB-4338-B4D8-AB51757B9F8C}"/>
              </a:ext>
            </a:extLst>
          </p:cNvPr>
          <p:cNvSpPr>
            <a:spLocks noGrp="1"/>
          </p:cNvSpPr>
          <p:nvPr/>
        </p:nvSpPr>
        <p:spPr>
          <a:xfrm>
            <a:off x="8610600" y="4210050"/>
            <a:ext cx="295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2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Own worlds and standards; rent specialist production</a:t>
            </a:r>
            <a:endParaRPr sz="1275" b="1">
              <a:solidFill>
                <a:srgbClr val="006DB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nav-to-17-Explore-This-Path-→">
            <a:hlinkClick r:id="rId4" action="ppaction://hlinksldjump"/>
            <a:extLst>
              <a:ext uri="{FF2B5EF4-FFF2-40B4-BE49-F238E27FC236}">
                <a16:creationId xmlns:a16="http://schemas.microsoft.com/office/drawing/2014/main" id="{511752BB-C09E-4520-AB96-9B4612C37BAC}"/>
              </a:ext>
            </a:extLst>
          </p:cNvPr>
          <p:cNvSpPr>
            <a:spLocks noGrp="1"/>
          </p:cNvSpPr>
          <p:nvPr/>
        </p:nvSpPr>
        <p:spPr>
          <a:xfrm>
            <a:off x="8610600" y="4953000"/>
            <a:ext cx="2952750" cy="457200"/>
          </a:xfrm>
          <a:prstGeom prst="roundRect">
            <a:avLst>
              <a:gd name="adj" fmla="val 25000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RECOMMENDED</a:t>
            </a:r>
            <a:endParaRPr sz="127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295871-C033-4941-9866-35A1C494580F}"/>
              </a:ext>
            </a:extLst>
          </p:cNvPr>
          <p:cNvSpPr>
            <a:spLocks noGrp="1"/>
          </p:cNvSpPr>
          <p:nvPr/>
        </p:nvSpPr>
        <p:spPr>
          <a:xfrm>
            <a:off x="2095500" y="5810250"/>
            <a:ext cx="800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3329"/>
          </a:bodyPr>
          <a:lstStyle/>
          <a:p>
            <a: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Which path expands entertainment without repeating the complexity trap?</a:t>
            </a:r>
            <a:endParaRPr sz="1650" b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B151AF-A38A-42E9-9683-71BDD6F33768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The evidence points to the ecosystem-orchestrator model.</a:t>
            </a:r>
            <a:endParaRPr sz="675" b="0">
              <a:solidFill>
                <a:srgbClr val="7E849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3407507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7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9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9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B10E6F05-A302-4C60-8799-530E3CCF76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49A0FE-D98D-457F-84F0-581A612AB3C1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B0C5F-DED2-4E6D-8E5D-241607BC63DB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09EB79-781F-4D28-AE45-430CB6807C8D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0">
            <a:extLst>
              <a:ext uri="{FF2B5EF4-FFF2-40B4-BE49-F238E27FC236}">
                <a16:creationId xmlns:a16="http://schemas.microsoft.com/office/drawing/2014/main" id="{D1280479-CBE5-41DB-BA4E-12FAD207D265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1">
              <a:solidFill>
                <a:srgbClr val="8F96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9E40C6-DA6B-4107-904A-F06F6BBFEF08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AAB0BC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0">
            <a:extLst>
              <a:ext uri="{FF2B5EF4-FFF2-40B4-BE49-F238E27FC236}">
                <a16:creationId xmlns:a16="http://schemas.microsoft.com/office/drawing/2014/main" id="{AC9CE508-01C3-4CBD-A460-E08E5824DF69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VRIO Shows that LEGO's Durable Advantage Still Comes from the Core</a:t>
            </a:r>
            <a:endParaRPr sz="25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D0A42D-F3B3-4A41-9A7C-FB1B1F1EEAF9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RESOURCE / CAPABILITY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9FDE11-A701-4E8F-973F-2330768FADEA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A6E08-FF29-4C96-B45A-20BC9DECC137}"/>
              </a:ext>
            </a:extLst>
          </p:cNvPr>
          <p:cNvSpPr>
            <a:spLocks noGrp="1"/>
          </p:cNvSpPr>
          <p:nvPr/>
        </p:nvSpPr>
        <p:spPr>
          <a:xfrm>
            <a:off x="5619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7DC3C0-3E2B-4008-BFE4-DB05F371A905}"/>
              </a:ext>
            </a:extLst>
          </p:cNvPr>
          <p:cNvSpPr>
            <a:spLocks noGrp="1"/>
          </p:cNvSpPr>
          <p:nvPr/>
        </p:nvSpPr>
        <p:spPr>
          <a:xfrm>
            <a:off x="6762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AFEEE3-2CEE-4724-9B9C-2454E70C09B5}"/>
              </a:ext>
            </a:extLst>
          </p:cNvPr>
          <p:cNvSpPr>
            <a:spLocks noGrp="1"/>
          </p:cNvSpPr>
          <p:nvPr/>
        </p:nvSpPr>
        <p:spPr>
          <a:xfrm>
            <a:off x="7905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E8CBA-A077-4BED-ABDF-71E2C2801A51}"/>
              </a:ext>
            </a:extLst>
          </p:cNvPr>
          <p:cNvSpPr>
            <a:spLocks noGrp="1"/>
          </p:cNvSpPr>
          <p:nvPr/>
        </p:nvSpPr>
        <p:spPr>
          <a:xfrm>
            <a:off x="9048750" y="1428750"/>
            <a:ext cx="1000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VERDICT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D23E714-BD3E-4474-A31D-CD6653227A05}"/>
              </a:ext>
            </a:extLst>
          </p:cNvPr>
          <p:cNvSpPr>
            <a:spLocks noGrp="1"/>
          </p:cNvSpPr>
          <p:nvPr/>
        </p:nvSpPr>
        <p:spPr>
          <a:xfrm>
            <a:off x="457200" y="18478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51820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9E21F1-4BE7-48CC-87BE-985D377C00A0}"/>
              </a:ext>
            </a:extLst>
          </p:cNvPr>
          <p:cNvSpPr>
            <a:spLocks noGrp="1"/>
          </p:cNvSpPr>
          <p:nvPr/>
        </p:nvSpPr>
        <p:spPr>
          <a:xfrm>
            <a:off x="590550" y="18954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 fontScale="98039"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SYSTEM IN PLAY</a:t>
            </a:r>
          </a:p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Compatibility + recombination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9445B6-489F-429F-98F9-3662E127FDB2}"/>
              </a:ext>
            </a:extLst>
          </p:cNvPr>
          <p:cNvSpPr>
            <a:spLocks noGrp="1"/>
          </p:cNvSpPr>
          <p:nvPr/>
        </p:nvSpPr>
        <p:spPr>
          <a:xfrm>
            <a:off x="4476750" y="19145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B4D52-9C70-402D-997A-0425C25E7E4A}"/>
              </a:ext>
            </a:extLst>
          </p:cNvPr>
          <p:cNvSpPr>
            <a:spLocks noGrp="1"/>
          </p:cNvSpPr>
          <p:nvPr/>
        </p:nvSpPr>
        <p:spPr>
          <a:xfrm>
            <a:off x="5619750" y="19145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5D0636-27E6-4DD4-B517-AD5156D6B548}"/>
              </a:ext>
            </a:extLst>
          </p:cNvPr>
          <p:cNvSpPr>
            <a:spLocks noGrp="1"/>
          </p:cNvSpPr>
          <p:nvPr/>
        </p:nvSpPr>
        <p:spPr>
          <a:xfrm>
            <a:off x="6762750" y="19145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D0D705-72E6-4B11-9C2E-96C1E5BED851}"/>
              </a:ext>
            </a:extLst>
          </p:cNvPr>
          <p:cNvSpPr>
            <a:spLocks noGrp="1"/>
          </p:cNvSpPr>
          <p:nvPr/>
        </p:nvSpPr>
        <p:spPr>
          <a:xfrm>
            <a:off x="7905750" y="19145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E7B5D6-803F-469E-989E-EF1B383ED7AD}"/>
              </a:ext>
            </a:extLst>
          </p:cNvPr>
          <p:cNvSpPr>
            <a:spLocks noGrp="1"/>
          </p:cNvSpPr>
          <p:nvPr/>
        </p:nvSpPr>
        <p:spPr>
          <a:xfrm>
            <a:off x="9096375" y="19240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SUSTAINED ADVANTAGE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77D350-506A-429F-8BFB-CF38FB04087F}"/>
              </a:ext>
            </a:extLst>
          </p:cNvPr>
          <p:cNvSpPr>
            <a:spLocks noGrp="1"/>
          </p:cNvSpPr>
          <p:nvPr/>
        </p:nvSpPr>
        <p:spPr>
          <a:xfrm>
            <a:off x="457200" y="24955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B1F29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14D7C7-0A2B-4BA1-9B93-3B4F777B378C}"/>
              </a:ext>
            </a:extLst>
          </p:cNvPr>
          <p:cNvSpPr>
            <a:spLocks noGrp="1"/>
          </p:cNvSpPr>
          <p:nvPr/>
        </p:nvSpPr>
        <p:spPr>
          <a:xfrm>
            <a:off x="590550" y="25431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Brand + family trust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6270C6-0556-4604-963B-55E2AA4157B3}"/>
              </a:ext>
            </a:extLst>
          </p:cNvPr>
          <p:cNvSpPr>
            <a:spLocks noGrp="1"/>
          </p:cNvSpPr>
          <p:nvPr/>
        </p:nvSpPr>
        <p:spPr>
          <a:xfrm>
            <a:off x="4476750" y="25622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4D6F51E-A783-4BBB-9975-3056EF115F90}"/>
              </a:ext>
            </a:extLst>
          </p:cNvPr>
          <p:cNvSpPr>
            <a:spLocks noGrp="1"/>
          </p:cNvSpPr>
          <p:nvPr/>
        </p:nvSpPr>
        <p:spPr>
          <a:xfrm>
            <a:off x="5619750" y="25622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ED0A7E-ABB1-4D8D-A63B-4F610BB21513}"/>
              </a:ext>
            </a:extLst>
          </p:cNvPr>
          <p:cNvSpPr>
            <a:spLocks noGrp="1"/>
          </p:cNvSpPr>
          <p:nvPr/>
        </p:nvSpPr>
        <p:spPr>
          <a:xfrm>
            <a:off x="6762750" y="25622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A71D2D-D91C-4F68-8A7C-5647AC2D6FED}"/>
              </a:ext>
            </a:extLst>
          </p:cNvPr>
          <p:cNvSpPr>
            <a:spLocks noGrp="1"/>
          </p:cNvSpPr>
          <p:nvPr/>
        </p:nvSpPr>
        <p:spPr>
          <a:xfrm>
            <a:off x="7905750" y="25622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CA0171-CB83-4C10-B466-1FA95C18B3D2}"/>
              </a:ext>
            </a:extLst>
          </p:cNvPr>
          <p:cNvSpPr>
            <a:spLocks noGrp="1"/>
          </p:cNvSpPr>
          <p:nvPr/>
        </p:nvSpPr>
        <p:spPr>
          <a:xfrm>
            <a:off x="9096375" y="25717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SUSTAINED ADVANTAGE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2A16F79-ADDF-47F9-AE89-5762408088C5}"/>
              </a:ext>
            </a:extLst>
          </p:cNvPr>
          <p:cNvSpPr>
            <a:spLocks noGrp="1"/>
          </p:cNvSpPr>
          <p:nvPr/>
        </p:nvSpPr>
        <p:spPr>
          <a:xfrm>
            <a:off x="457200" y="31432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51820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3B8B2B-9B1F-48C5-A9FF-D6EC62DE1186}"/>
              </a:ext>
            </a:extLst>
          </p:cNvPr>
          <p:cNvSpPr>
            <a:spLocks noGrp="1"/>
          </p:cNvSpPr>
          <p:nvPr/>
        </p:nvSpPr>
        <p:spPr>
          <a:xfrm>
            <a:off x="590550" y="31908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Brick / minifigure visual grammar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6703BA-D3F5-4D9A-BC6D-60F0FB151CD0}"/>
              </a:ext>
            </a:extLst>
          </p:cNvPr>
          <p:cNvSpPr>
            <a:spLocks noGrp="1"/>
          </p:cNvSpPr>
          <p:nvPr/>
        </p:nvSpPr>
        <p:spPr>
          <a:xfrm>
            <a:off x="4476750" y="32099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39CDCF-A992-47E0-A0DD-FFCC2D9B6DE7}"/>
              </a:ext>
            </a:extLst>
          </p:cNvPr>
          <p:cNvSpPr>
            <a:spLocks noGrp="1"/>
          </p:cNvSpPr>
          <p:nvPr/>
        </p:nvSpPr>
        <p:spPr>
          <a:xfrm>
            <a:off x="5619750" y="32099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72B2233-D65C-49FC-8B07-3BAF241DF58F}"/>
              </a:ext>
            </a:extLst>
          </p:cNvPr>
          <p:cNvSpPr>
            <a:spLocks noGrp="1"/>
          </p:cNvSpPr>
          <p:nvPr/>
        </p:nvSpPr>
        <p:spPr>
          <a:xfrm>
            <a:off x="6762750" y="32099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D9E628-0005-438C-8AE4-E36CE8BFE25E}"/>
              </a:ext>
            </a:extLst>
          </p:cNvPr>
          <p:cNvSpPr>
            <a:spLocks noGrp="1"/>
          </p:cNvSpPr>
          <p:nvPr/>
        </p:nvSpPr>
        <p:spPr>
          <a:xfrm>
            <a:off x="7905750" y="32099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7E00D8-0B3A-43E9-B37B-E001D7160F50}"/>
              </a:ext>
            </a:extLst>
          </p:cNvPr>
          <p:cNvSpPr>
            <a:spLocks noGrp="1"/>
          </p:cNvSpPr>
          <p:nvPr/>
        </p:nvSpPr>
        <p:spPr>
          <a:xfrm>
            <a:off x="9096375" y="32194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SUSTAINED ADVANTAGE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279FE0E-D4EC-465D-BA7B-70D6097579CD}"/>
              </a:ext>
            </a:extLst>
          </p:cNvPr>
          <p:cNvSpPr>
            <a:spLocks noGrp="1"/>
          </p:cNvSpPr>
          <p:nvPr/>
        </p:nvSpPr>
        <p:spPr>
          <a:xfrm>
            <a:off x="457200" y="37909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B1F29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DF0E4E-11FA-4E3C-8810-B19AD9119A50}"/>
              </a:ext>
            </a:extLst>
          </p:cNvPr>
          <p:cNvSpPr>
            <a:spLocks noGrp="1"/>
          </p:cNvSpPr>
          <p:nvPr/>
        </p:nvSpPr>
        <p:spPr>
          <a:xfrm>
            <a:off x="590550" y="38385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World → play → product translation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81AED3-A38C-4AC3-B6AD-4238C8D369DE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08F5D8-B124-45C5-901C-85C735118E46}"/>
              </a:ext>
            </a:extLst>
          </p:cNvPr>
          <p:cNvSpPr>
            <a:spLocks noGrp="1"/>
          </p:cNvSpPr>
          <p:nvPr/>
        </p:nvSpPr>
        <p:spPr>
          <a:xfrm>
            <a:off x="5619750" y="38576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94506-65C2-4ED7-86B1-70CC872B447B}"/>
              </a:ext>
            </a:extLst>
          </p:cNvPr>
          <p:cNvSpPr>
            <a:spLocks noGrp="1"/>
          </p:cNvSpPr>
          <p:nvPr/>
        </p:nvSpPr>
        <p:spPr>
          <a:xfrm>
            <a:off x="6762750" y="38576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6BE0DC-1F3C-4C53-A222-89309AF31978}"/>
              </a:ext>
            </a:extLst>
          </p:cNvPr>
          <p:cNvSpPr>
            <a:spLocks noGrp="1"/>
          </p:cNvSpPr>
          <p:nvPr/>
        </p:nvSpPr>
        <p:spPr>
          <a:xfrm>
            <a:off x="7905750" y="38576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E71A1C2-ED63-428A-85A5-66EF13FAF7DE}"/>
              </a:ext>
            </a:extLst>
          </p:cNvPr>
          <p:cNvSpPr>
            <a:spLocks noGrp="1"/>
          </p:cNvSpPr>
          <p:nvPr/>
        </p:nvSpPr>
        <p:spPr>
          <a:xfrm>
            <a:off x="9096375" y="38671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6DB7"/>
                </a:solidFill>
                <a:latin typeface="Microsoft YaHei"/>
                <a:ea typeface="Microsoft YaHei"/>
                <a:cs typeface="Microsoft YaHei"/>
              </a:rPr>
              <a:t>SUSTAINED ADVANTAGE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66CCA35-4900-4292-8251-7E66E9A3C138}"/>
              </a:ext>
            </a:extLst>
          </p:cNvPr>
          <p:cNvSpPr>
            <a:spLocks noGrp="1"/>
          </p:cNvSpPr>
          <p:nvPr/>
        </p:nvSpPr>
        <p:spPr>
          <a:xfrm>
            <a:off x="457200" y="44386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51820"/>
          </a:solidFill>
          <a:ln w="0">
            <a:noFill/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1B8B536-C2CA-4F36-8A7A-0C82C7295299}"/>
              </a:ext>
            </a:extLst>
          </p:cNvPr>
          <p:cNvSpPr>
            <a:spLocks noGrp="1"/>
          </p:cNvSpPr>
          <p:nvPr/>
        </p:nvSpPr>
        <p:spPr>
          <a:xfrm>
            <a:off x="590550" y="44862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Film production / distribution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13D5A16-5832-4133-A091-BEA541A26A2F}"/>
              </a:ext>
            </a:extLst>
          </p:cNvPr>
          <p:cNvSpPr>
            <a:spLocks noGrp="1"/>
          </p:cNvSpPr>
          <p:nvPr/>
        </p:nvSpPr>
        <p:spPr>
          <a:xfrm>
            <a:off x="4476750" y="45053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8B5593-5661-4A8D-AE36-608989ABC363}"/>
              </a:ext>
            </a:extLst>
          </p:cNvPr>
          <p:cNvSpPr>
            <a:spLocks noGrp="1"/>
          </p:cNvSpPr>
          <p:nvPr/>
        </p:nvSpPr>
        <p:spPr>
          <a:xfrm>
            <a:off x="5619750" y="45053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9017C8-CB97-4FF5-9FCA-3EE8ADA2B9A4}"/>
              </a:ext>
            </a:extLst>
          </p:cNvPr>
          <p:cNvSpPr>
            <a:spLocks noGrp="1"/>
          </p:cNvSpPr>
          <p:nvPr/>
        </p:nvSpPr>
        <p:spPr>
          <a:xfrm>
            <a:off x="6762750" y="45053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227EE44-7815-45B0-AF27-1CD1BCF19A9E}"/>
              </a:ext>
            </a:extLst>
          </p:cNvPr>
          <p:cNvSpPr>
            <a:spLocks noGrp="1"/>
          </p:cNvSpPr>
          <p:nvPr/>
        </p:nvSpPr>
        <p:spPr>
          <a:xfrm>
            <a:off x="7905750" y="45053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△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134659-CA65-4D31-AD24-06B6DC260741}"/>
              </a:ext>
            </a:extLst>
          </p:cNvPr>
          <p:cNvSpPr>
            <a:spLocks noGrp="1"/>
          </p:cNvSpPr>
          <p:nvPr/>
        </p:nvSpPr>
        <p:spPr>
          <a:xfrm>
            <a:off x="9096375" y="45148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PARTNER CAPABILITY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CB46335-F084-4E6C-96A1-93B11819B2C8}"/>
              </a:ext>
            </a:extLst>
          </p:cNvPr>
          <p:cNvSpPr>
            <a:spLocks noGrp="1"/>
          </p:cNvSpPr>
          <p:nvPr/>
        </p:nvSpPr>
        <p:spPr>
          <a:xfrm>
            <a:off x="457200" y="5086350"/>
            <a:ext cx="11258550" cy="552450"/>
          </a:xfrm>
          <a:prstGeom prst="roundRect">
            <a:avLst>
              <a:gd name="adj" fmla="val 13793"/>
            </a:avLst>
          </a:prstGeom>
          <a:solidFill>
            <a:srgbClr val="1B1F29"/>
          </a:solidFill>
          <a:ln w="0">
            <a:noFill/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4FEE0E-29F9-4A06-81C9-08B3924A8575}"/>
              </a:ext>
            </a:extLst>
          </p:cNvPr>
          <p:cNvSpPr>
            <a:spLocks noGrp="1"/>
          </p:cNvSpPr>
          <p:nvPr/>
        </p:nvSpPr>
        <p:spPr>
          <a:xfrm>
            <a:off x="590550" y="5133975"/>
            <a:ext cx="3667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AAA development / platform operations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B82048-3556-4A3C-B927-CFD588645BE3}"/>
              </a:ext>
            </a:extLst>
          </p:cNvPr>
          <p:cNvSpPr>
            <a:spLocks noGrp="1"/>
          </p:cNvSpPr>
          <p:nvPr/>
        </p:nvSpPr>
        <p:spPr>
          <a:xfrm>
            <a:off x="4476750" y="51530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465AFBA-43E0-42AC-A903-E9EE92EB29BF}"/>
              </a:ext>
            </a:extLst>
          </p:cNvPr>
          <p:cNvSpPr>
            <a:spLocks noGrp="1"/>
          </p:cNvSpPr>
          <p:nvPr/>
        </p:nvSpPr>
        <p:spPr>
          <a:xfrm>
            <a:off x="5619750" y="51530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6F3D87-1C33-464A-9B2A-BBFB97DB08A6}"/>
              </a:ext>
            </a:extLst>
          </p:cNvPr>
          <p:cNvSpPr>
            <a:spLocks noGrp="1"/>
          </p:cNvSpPr>
          <p:nvPr/>
        </p:nvSpPr>
        <p:spPr>
          <a:xfrm>
            <a:off x="6762750" y="51530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–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DF9F044-35A5-4B0F-813D-0B9E988EF40A}"/>
              </a:ext>
            </a:extLst>
          </p:cNvPr>
          <p:cNvSpPr>
            <a:spLocks noGrp="1"/>
          </p:cNvSpPr>
          <p:nvPr/>
        </p:nvSpPr>
        <p:spPr>
          <a:xfrm>
            <a:off x="7905750" y="5153025"/>
            <a:ext cx="1000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298A4"/>
                </a:solidFill>
                <a:latin typeface="Microsoft YaHei"/>
                <a:ea typeface="Microsoft YaHei"/>
                <a:cs typeface="Microsoft YaHei"/>
              </a:rPr>
              <a:t>△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2EB5DA9-D7DA-4EE2-A09E-3BD38A425818}"/>
              </a:ext>
            </a:extLst>
          </p:cNvPr>
          <p:cNvSpPr>
            <a:spLocks noGrp="1"/>
          </p:cNvSpPr>
          <p:nvPr/>
        </p:nvSpPr>
        <p:spPr>
          <a:xfrm>
            <a:off x="9096375" y="51625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PARTNER CAPABILITY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647039A-1C5A-4D16-A03A-F78AA025FC18}"/>
              </a:ext>
            </a:extLst>
          </p:cNvPr>
          <p:cNvSpPr>
            <a:spLocks noGrp="1"/>
          </p:cNvSpPr>
          <p:nvPr/>
        </p:nvSpPr>
        <p:spPr>
          <a:xfrm>
            <a:off x="1333500" y="590550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9902"/>
          </a:bodyPr>
          <a:lstStyle/>
          <a:p>
            <a:pPr algn="ctr">
              <a:defRPr sz="16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5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LEGO should control the System in Play, brand, visual grammar, and world-to-product translation—not vertically integrate every specialist production step.</a:t>
            </a:r>
            <a:endParaRPr sz="1650" b="1">
              <a:solidFill>
                <a:srgbClr val="FFD5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A553EBA-2155-477A-ACC2-CD9E615A224B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VRIO: Value / Rarity / Inimitability / Organization. Framework: Barney (1991).</a:t>
            </a:r>
          </a:p>
        </p:txBody>
      </p:sp>
    </p:spTree>
    <p:extLst>
      <p:ext uri="{BB962C8B-B14F-4D97-AF65-F5344CB8AC3E}">
        <p14:creationId xmlns:p14="http://schemas.microsoft.com/office/powerpoint/2010/main" val="2413617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02F9D0F-F41D-4A7B-80B0-35A5F81880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260E23-9C41-4335-91CC-A96C37872081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A4659E-C1A5-49E8-8AF7-5DDFE4836140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FF8D06-081B-4EF6-B0DC-4E5C20AC40E5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1">
            <a:extLst>
              <a:ext uri="{FF2B5EF4-FFF2-40B4-BE49-F238E27FC236}">
                <a16:creationId xmlns:a16="http://schemas.microsoft.com/office/drawing/2014/main" id="{DA15B31B-C2E2-4D56-AFC0-6081224E68BE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975" b="1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94CE29-BE77-4A3B-AB79-CD68B2B8BCF6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1">
            <a:extLst>
              <a:ext uri="{FF2B5EF4-FFF2-40B4-BE49-F238E27FC236}">
                <a16:creationId xmlns:a16="http://schemas.microsoft.com/office/drawing/2014/main" id="{C84219B9-44C7-4804-877D-41C3E878CC28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8431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Related Diversification Works Only When Entertainment Returns Value to the Brick</a:t>
            </a:r>
            <a:endParaRPr sz="2550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1DE1C8-62A6-4D06-892E-BCEF7C091DF3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PHYSICAL BRICKS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31E4D4-04FB-48A8-BBDC-4AE11C552A87}"/>
              </a:ext>
            </a:extLst>
          </p:cNvPr>
          <p:cNvSpPr>
            <a:spLocks noGrp="1"/>
          </p:cNvSpPr>
          <p:nvPr/>
        </p:nvSpPr>
        <p:spPr>
          <a:xfrm>
            <a:off x="3143250" y="1476375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CHARACTERS &amp; STORIES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0EB2EE-E3FE-4344-88F1-E71361D31500}"/>
              </a:ext>
            </a:extLst>
          </p:cNvPr>
          <p:cNvSpPr>
            <a:spLocks noGrp="1"/>
          </p:cNvSpPr>
          <p:nvPr/>
        </p:nvSpPr>
        <p:spPr>
          <a:xfrm>
            <a:off x="5667375" y="238125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FILM / TV / GAMES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FE8A39-3208-4BCD-92D4-BFD625EF1327}"/>
              </a:ext>
            </a:extLst>
          </p:cNvPr>
          <p:cNvSpPr>
            <a:spLocks noGrp="1"/>
          </p:cNvSpPr>
          <p:nvPr/>
        </p:nvSpPr>
        <p:spPr>
          <a:xfrm>
            <a:off x="8096250" y="1476375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00A65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ENGAGEMENT &amp; COMMUNITY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4C88B9-50AE-4EE2-B59C-F65269076F3F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E2231A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NEW SETS / NEW PLAY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B106A75-4B7A-419B-9FA6-8AC474460D95}"/>
              </a:ext>
            </a:extLst>
          </p:cNvPr>
          <p:cNvSpPr>
            <a:spLocks noGrp="1"/>
          </p:cNvSpPr>
          <p:nvPr/>
        </p:nvSpPr>
        <p:spPr>
          <a:xfrm>
            <a:off x="3143250" y="4000500"/>
            <a:ext cx="2000250" cy="666750"/>
          </a:xfrm>
          <a:prstGeom prst="roundRect">
            <a:avLst>
              <a:gd name="adj" fmla="val 17143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/>
          </a:bodyPr>
          <a:lstStyle/>
          <a:p>
            <a:pPr algn="ctr">
              <a:def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INSIGHT &amp; IDEAS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2E268D-D12A-4E0A-8E3B-AA3D689401DC}"/>
              </a:ext>
            </a:extLst>
          </p:cNvPr>
          <p:cNvSpPr>
            <a:spLocks noGrp="1"/>
          </p:cNvSpPr>
          <p:nvPr/>
        </p:nvSpPr>
        <p:spPr>
          <a:xfrm>
            <a:off x="3524250" y="3162300"/>
            <a:ext cx="5048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lIns="38100" tIns="38100" rIns="38100" bIns="38100" anchor="ctr">
            <a:normAutofit fontScale="81189"/>
          </a:bodyPr>
          <a:lstStyle/>
          <a:p>
            <a:pPr algn="ctr">
              <a:def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SHARED: brand, minifigure grammar, compatibility, design capability, retail channels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583F5F-4C57-49E3-8009-D84FF39F3541}"/>
              </a:ext>
            </a:extLst>
          </p:cNvPr>
          <p:cNvSpPr>
            <a:spLocks noGrp="1"/>
          </p:cNvSpPr>
          <p:nvPr/>
        </p:nvSpPr>
        <p:spPr>
          <a:xfrm>
            <a:off x="10191750" y="2333625"/>
            <a:ext cx="1285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RELATED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A58C1A-7E1F-4347-B998-700FD8824620}"/>
              </a:ext>
            </a:extLst>
          </p:cNvPr>
          <p:cNvSpPr>
            <a:spLocks noGrp="1"/>
          </p:cNvSpPr>
          <p:nvPr/>
        </p:nvSpPr>
        <p:spPr>
          <a:xfrm>
            <a:off x="9906000" y="2952750"/>
            <a:ext cx="1714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Stories become sets</a:t>
            </a:r>
          </a:p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Platforms activate physical demand</a:t>
            </a:r>
            <a:endParaRPr sz="1200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E20F51-F8FC-4465-83C9-69CDBAB9A630}"/>
              </a:ext>
            </a:extLst>
          </p:cNvPr>
          <p:cNvSpPr>
            <a:spLocks noGrp="1"/>
          </p:cNvSpPr>
          <p:nvPr/>
        </p:nvSpPr>
        <p:spPr>
          <a:xfrm>
            <a:off x="10191750" y="4267200"/>
            <a:ext cx="1285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6806"/>
          </a:bodyPr>
          <a:lstStyle/>
          <a:p>
            <a:pPr algn="ctr">
              <a:defRPr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OVER THE 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F11905-8F5B-4D6A-B703-BA843F40CB63}"/>
              </a:ext>
            </a:extLst>
          </p:cNvPr>
          <p:cNvSpPr>
            <a:spLocks noGrp="1"/>
          </p:cNvSpPr>
          <p:nvPr/>
        </p:nvSpPr>
        <p:spPr>
          <a:xfrm>
            <a:off x="9791700" y="4876800"/>
            <a:ext cx="1952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Isolated content bets</a:t>
            </a:r>
          </a:p>
          <a:p>
            <a:pPr algn="ctr">
              <a:def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No shared resources, no product return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00A2E4-D664-412A-9B46-F5AE5700E0C6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The test is simple: does the entertainment project share core resources and strengthen physical play?</a:t>
            </a:r>
            <a:endParaRPr sz="675" b="0">
              <a:solidFill>
                <a:srgbClr val="8A857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68464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D3DBC05-8758-46EF-B32A-A2B9563BD0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A04F5-A742-407B-A5BB-D0F421D29109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A1783-0E6B-44DD-8296-0B682CA1F8B9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1A2F6-C6D6-47EE-A79D-3F88F3B27D19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5" name="slide-number-18">
            <a:extLst>
              <a:ext uri="{FF2B5EF4-FFF2-40B4-BE49-F238E27FC236}">
                <a16:creationId xmlns:a16="http://schemas.microsoft.com/office/drawing/2014/main" id="{9CC2B2E2-D92E-41F5-993A-1E2390479D8B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1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0DDF4F-43F7-452D-A946-9E2C6DAD8C09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LEGO ENTERTAINMENT STRATEGY</a:t>
            </a:r>
          </a:p>
        </p:txBody>
      </p:sp>
      <p:sp>
        <p:nvSpPr>
          <p:cNvPr id="7" name="title-18">
            <a:extLst>
              <a:ext uri="{FF2B5EF4-FFF2-40B4-BE49-F238E27FC236}">
                <a16:creationId xmlns:a16="http://schemas.microsoft.com/office/drawing/2014/main" id="{373B4489-AE20-41CF-8A59-812548B20681}"/>
              </a:ext>
            </a:extLst>
          </p:cNvPr>
          <p:cNvSpPr>
            <a:spLocks noGrp="1"/>
          </p:cNvSpPr>
          <p:nvPr/>
        </p:nvSpPr>
        <p:spPr>
          <a:xfrm>
            <a:off x="457200" y="59055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8698"/>
          </a:bodyPr>
          <a:lstStyle/>
          <a:p>
            <a:pPr algn="l">
              <a:defRPr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5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Recommendation: Keep Bricks at the Core; Use Entertainment to Expand the System</a:t>
            </a:r>
            <a:endParaRPr sz="2550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rcRect t="5943" b="5943"/>
          <a:stretch>
            <a:fillRect/>
          </a:stretch>
        </p:blipFill>
        <p:spPr>
          <a:xfrm>
            <a:off x="457200" y="1428750"/>
            <a:ext cx="581025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F2ED89D-A34F-4F6B-A5AF-43635D1F0190}"/>
              </a:ext>
            </a:extLst>
          </p:cNvPr>
          <p:cNvSpPr>
            <a:spLocks noGrp="1"/>
          </p:cNvSpPr>
          <p:nvPr/>
        </p:nvSpPr>
        <p:spPr>
          <a:xfrm>
            <a:off x="6810375" y="152400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63889"/>
          </a:bodyPr>
          <a:lstStyle/>
          <a:p>
            <a:pPr algn="l">
              <a:defRPr sz="22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25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OWN MORE WORLDS</a:t>
            </a:r>
            <a:endParaRPr sz="2250" b="1">
              <a:solidFill>
                <a:srgbClr val="00A65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AF7693-F02E-41F9-B880-32CE5CC340B6}"/>
              </a:ext>
            </a:extLst>
          </p:cNvPr>
          <p:cNvSpPr>
            <a:spLocks noGrp="1"/>
          </p:cNvSpPr>
          <p:nvPr/>
        </p:nvSpPr>
        <p:spPr>
          <a:xfrm>
            <a:off x="6810375" y="2143125"/>
            <a:ext cx="4476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Build more owned characters and worlds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Create persistent digital spaces and communities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Back projects that generate sets, repeat play, and new mechanics</a:t>
            </a:r>
            <a:endParaRPr sz="1425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9CC4D-7C5A-4639-AB55-1E278EC6467A}"/>
              </a:ext>
            </a:extLst>
          </p:cNvPr>
          <p:cNvSpPr>
            <a:spLocks noGrp="1"/>
          </p:cNvSpPr>
          <p:nvPr/>
        </p:nvSpPr>
        <p:spPr>
          <a:xfrm>
            <a:off x="6810375" y="3667125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76298"/>
          </a:bodyPr>
          <a:lstStyle/>
          <a:p>
            <a:pPr algn="l">
              <a:defRPr sz="22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250" b="1">
                <a:solidFill>
                  <a:srgbClr val="E2231A"/>
                </a:solidFill>
                <a:latin typeface="Microsoft YaHei"/>
                <a:ea typeface="Microsoft YaHei"/>
                <a:cs typeface="Microsoft YaHei"/>
              </a:rPr>
              <a:t>OWN FEWER STUDIOS</a:t>
            </a:r>
            <a:endParaRPr sz="2250" b="1">
              <a:solidFill>
                <a:srgbClr val="E223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ABE414-A75D-4973-9DAB-33B3DC5A4004}"/>
              </a:ext>
            </a:extLst>
          </p:cNvPr>
          <p:cNvSpPr>
            <a:spLocks noGrp="1"/>
          </p:cNvSpPr>
          <p:nvPr/>
        </p:nvSpPr>
        <p:spPr>
          <a:xfrm>
            <a:off x="6810375" y="4286250"/>
            <a:ext cx="4476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7203"/>
          </a:bodyPr>
          <a:lstStyle/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Partner for film production, game development, and platforms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Retain control of brand, play principles, data, and child safety</a:t>
            </a:r>
          </a:p>
          <a:p>
            <a:pPr algn="l">
              <a:defRPr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25" b="0">
                <a:solidFill>
                  <a:srgbClr val="6E6A61"/>
                </a:solidFill>
                <a:latin typeface="Microsoft YaHei"/>
                <a:ea typeface="Microsoft YaHei"/>
                <a:cs typeface="Microsoft YaHei"/>
              </a:rPr>
              <a:t>• Require every project to return value to physical play</a:t>
            </a:r>
            <a:endParaRPr sz="1425" b="0">
              <a:solidFill>
                <a:srgbClr val="6E6A6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B01F0E-0639-454C-BEFE-C88E28A30D32}"/>
              </a:ext>
            </a:extLst>
          </p:cNvPr>
          <p:cNvSpPr>
            <a:spLocks noGrp="1"/>
          </p:cNvSpPr>
          <p:nvPr/>
        </p:nvSpPr>
        <p:spPr>
          <a:xfrm>
            <a:off x="1619250" y="5810250"/>
            <a:ext cx="8953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ctr">
              <a:defRPr sz="19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95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Partner for production. Control the play system.</a:t>
            </a:r>
            <a:endParaRPr sz="1950" b="1">
              <a:solidFill>
                <a:srgbClr val="1616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5DB62-3BD3-49D2-AF56-F47422CE4B42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8A857B"/>
                </a:solidFill>
                <a:latin typeface="Microsoft YaHei"/>
                <a:ea typeface="Microsoft YaHei"/>
                <a:cs typeface="Microsoft YaHei"/>
              </a:rPr>
              <a:t>Recommendation based on VRIO, related diversification, and comparative cases.</a:t>
            </a:r>
          </a:p>
        </p:txBody>
      </p:sp>
    </p:spTree>
    <p:extLst>
      <p:ext uri="{BB962C8B-B14F-4D97-AF65-F5344CB8AC3E}">
        <p14:creationId xmlns:p14="http://schemas.microsoft.com/office/powerpoint/2010/main" val="2940022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10212" b="102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2B620F-98B5-49F7-B8AE-D694938A3B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90A0E"/>
          </a:solidFill>
          <a:ln w="0">
            <a:noFill/>
            <a:prstDash val="solid"/>
          </a:ln>
        </p:spPr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rcRect t="1035" b="1035"/>
          <a:stretch>
            <a:fillRect/>
          </a:stretch>
        </p:blipFill>
        <p:spPr>
          <a:xfrm>
            <a:off x="6667500" y="857250"/>
            <a:ext cx="4857750" cy="2667000"/>
          </a:xfrm>
          <a:prstGeom prst="roundRect">
            <a:avLst>
              <a:gd name="adj" fmla="val 4286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406CE1-6952-4F1A-9BC2-07FC5B718795}"/>
              </a:ext>
            </a:extLst>
          </p:cNvPr>
          <p:cNvSpPr>
            <a:spLocks noGrp="1"/>
          </p:cNvSpPr>
          <p:nvPr/>
        </p:nvSpPr>
        <p:spPr>
          <a:xfrm>
            <a:off x="571500" y="1028700"/>
            <a:ext cx="533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D500"/>
                </a:solidFill>
                <a:latin typeface="Microsoft YaHei"/>
                <a:ea typeface="Microsoft YaHei"/>
                <a:cs typeface="Microsoft YaHei"/>
              </a:rPr>
              <a:t>THE LAST BRICK</a:t>
            </a:r>
          </a:p>
        </p:txBody>
      </p:sp>
      <p:sp>
        <p:nvSpPr>
          <p:cNvPr id="5" name="title-20">
            <a:extLst>
              <a:ext uri="{FF2B5EF4-FFF2-40B4-BE49-F238E27FC236}">
                <a16:creationId xmlns:a16="http://schemas.microsoft.com/office/drawing/2014/main" id="{AE77079E-98D7-4E8E-90CE-00809F507D43}"/>
              </a:ext>
            </a:extLst>
          </p:cNvPr>
          <p:cNvSpPr>
            <a:spLocks noGrp="1"/>
          </p:cNvSpPr>
          <p:nvPr/>
        </p:nvSpPr>
        <p:spPr>
          <a:xfrm>
            <a:off x="571500" y="1762125"/>
            <a:ext cx="5715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1731"/>
          </a:bodyPr>
          <a:lstStyle/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LEGO'S FUTURE IS NOT</a:t>
            </a:r>
          </a:p>
          <a:p>
            <a:pPr algn="l"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 BECOME AN ENTERTAINMENT CONGLOMERATE</a:t>
            </a:r>
            <a:endParaRPr sz="3225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948E23-11AA-4E92-A008-41CEDD79C7D2}"/>
              </a:ext>
            </a:extLst>
          </p:cNvPr>
          <p:cNvSpPr>
            <a:spLocks noGrp="1"/>
          </p:cNvSpPr>
          <p:nvPr/>
        </p:nvSpPr>
        <p:spPr>
          <a:xfrm>
            <a:off x="571500" y="3571875"/>
            <a:ext cx="5810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82480"/>
          </a:bodyPr>
          <a:lstStyle/>
          <a:p>
            <a:pPr algn="l">
              <a:defRPr sz="21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1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IT IS TO OWN MORE WORLDS, PARTNER FOR PRODUCTION,</a:t>
            </a:r>
          </a:p>
          <a:p>
            <a:pPr algn="l">
              <a:defRPr sz="21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100" b="1">
                <a:solidFill>
                  <a:srgbClr val="00A650"/>
                </a:solidFill>
                <a:latin typeface="Microsoft YaHei"/>
                <a:ea typeface="Microsoft YaHei"/>
                <a:cs typeface="Microsoft YaHei"/>
              </a:rPr>
              <a:t>AND CONTROL THE PLAY SYSTEM.</a:t>
            </a:r>
            <a:endParaRPr sz="2100" b="1">
              <a:solidFill>
                <a:srgbClr val="00A65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nav-to-01-Back-to-Start-↺">
            <a:hlinkClick r:id="rId5" action="ppaction://hlinksldjump"/>
            <a:extLst>
              <a:ext uri="{FF2B5EF4-FFF2-40B4-BE49-F238E27FC236}">
                <a16:creationId xmlns:a16="http://schemas.microsoft.com/office/drawing/2014/main" id="{5810F439-9E01-418F-9FAF-1D354771AC7F}"/>
              </a:ext>
            </a:extLst>
          </p:cNvPr>
          <p:cNvSpPr>
            <a:spLocks noGrp="1"/>
          </p:cNvSpPr>
          <p:nvPr/>
        </p:nvSpPr>
        <p:spPr>
          <a:xfrm>
            <a:off x="571500" y="5572125"/>
            <a:ext cx="2000250" cy="495300"/>
          </a:xfrm>
          <a:prstGeom prst="roundRect">
            <a:avLst>
              <a:gd name="adj" fmla="val 23077"/>
            </a:avLst>
          </a:prstGeom>
          <a:solidFill>
            <a:srgbClr val="FFD500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Back to Start ↺</a:t>
            </a:r>
          </a:p>
        </p:txBody>
      </p:sp>
      <p:sp>
        <p:nvSpPr>
          <p:cNvPr id="8" name="nav-to-14-Back-to-Options">
            <a:hlinkClick r:id="rId6" action="ppaction://hlinksldjump"/>
            <a:extLst>
              <a:ext uri="{FF2B5EF4-FFF2-40B4-BE49-F238E27FC236}">
                <a16:creationId xmlns:a16="http://schemas.microsoft.com/office/drawing/2014/main" id="{DE4A041D-B737-4C89-A1A8-3CE28ECA806E}"/>
              </a:ext>
            </a:extLst>
          </p:cNvPr>
          <p:cNvSpPr>
            <a:spLocks noGrp="1"/>
          </p:cNvSpPr>
          <p:nvPr/>
        </p:nvSpPr>
        <p:spPr>
          <a:xfrm>
            <a:off x="2762250" y="5572125"/>
            <a:ext cx="2190750" cy="495300"/>
          </a:xfrm>
          <a:prstGeom prst="roundRect">
            <a:avLst>
              <a:gd name="adj" fmla="val 23077"/>
            </a:avLst>
          </a:prstGeom>
          <a:solidFill>
            <a:srgbClr val="006DB7"/>
          </a:solidFill>
          <a:ln w="0">
            <a:noFill/>
            <a:prstDash val="solid"/>
          </a:ln>
        </p:spPr>
        <p:txBody>
          <a:bodyPr lIns="95250" tIns="38100" rIns="952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Back to Options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FAED8F-FFCE-4EF5-AF86-382CC4FF6B5F}"/>
              </a:ext>
            </a:extLst>
          </p:cNvPr>
          <p:cNvSpPr>
            <a:spLocks noGrp="1"/>
          </p:cNvSpPr>
          <p:nvPr/>
        </p:nvSpPr>
        <p:spPr>
          <a:xfrm>
            <a:off x="419100" y="6553200"/>
            <a:ext cx="1066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 fontScale="92593"/>
          </a:bodyPr>
          <a:lstStyle/>
          <a:p>
            <a:pPr algn="l">
              <a:defRPr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675" b="0">
                <a:solidFill>
                  <a:srgbClr val="7E8491"/>
                </a:solidFill>
                <a:latin typeface="Microsoft YaHei"/>
                <a:ea typeface="Microsoft YaHei"/>
                <a:cs typeface="Microsoft YaHei"/>
              </a:rPr>
              <a:t>Entertainment must return value to the brick.</a:t>
            </a:r>
            <a:endParaRPr sz="675" b="0">
              <a:solidFill>
                <a:srgbClr val="7E849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A878E4-2FE8-45EC-82E5-BB22D28C09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EFEB5F-71BC-426A-A2C1-0B1A95E66888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4023360" cy="47625"/>
          </a:xfrm>
          <a:prstGeom prst="rect">
            <a:avLst/>
          </a:prstGeom>
          <a:solidFill>
            <a:srgbClr val="FFD500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3A2268-AB8B-4C60-AB93-B5FC75855DBD}"/>
              </a:ext>
            </a:extLst>
          </p:cNvPr>
          <p:cNvSpPr>
            <a:spLocks noGrp="1"/>
          </p:cNvSpPr>
          <p:nvPr/>
        </p:nvSpPr>
        <p:spPr>
          <a:xfrm>
            <a:off x="4023360" y="76200"/>
            <a:ext cx="4145280" cy="47625"/>
          </a:xfrm>
          <a:prstGeom prst="rect">
            <a:avLst/>
          </a:prstGeom>
          <a:solidFill>
            <a:srgbClr val="006DB7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D5193A-0168-4FCE-9045-82E44DD6662B}"/>
              </a:ext>
            </a:extLst>
          </p:cNvPr>
          <p:cNvSpPr>
            <a:spLocks noGrp="1"/>
          </p:cNvSpPr>
          <p:nvPr/>
        </p:nvSpPr>
        <p:spPr>
          <a:xfrm>
            <a:off x="8168640" y="76200"/>
            <a:ext cx="4023360" cy="47625"/>
          </a:xfrm>
          <a:prstGeom prst="rect">
            <a:avLst/>
          </a:prstGeom>
          <a:solidFill>
            <a:srgbClr val="00A650"/>
          </a:solidFill>
          <a:ln w="0">
            <a:noFill/>
            <a:prstDash val="solid"/>
          </a:ln>
        </p:spPr>
      </p:sp>
      <p:sp>
        <p:nvSpPr>
          <p:cNvPr id="14" name="slide-number-20">
            <a:extLst>
              <a:ext uri="{FF2B5EF4-FFF2-40B4-BE49-F238E27FC236}">
                <a16:creationId xmlns:a16="http://schemas.microsoft.com/office/drawing/2014/main" id="{F2304E1A-A2AB-499E-8BEF-804D028ED3D8}"/>
              </a:ext>
            </a:extLst>
          </p:cNvPr>
          <p:cNvSpPr>
            <a:spLocks noGrp="1"/>
          </p:cNvSpPr>
          <p:nvPr/>
        </p:nvSpPr>
        <p:spPr>
          <a:xfrm>
            <a:off x="11430000" y="2286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38100" rIns="38100" bIns="38100" anchor="t">
            <a:normAutofit/>
          </a:bodyPr>
          <a:lstStyle/>
          <a:p>
            <a:pPr algn="r">
              <a:defRPr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75" b="1">
                <a:solidFill>
                  <a:srgbClr val="8F96A6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1">
              <a:solidFill>
                <a:srgbClr val="8F96A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08826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550">
        <p:push/>
      </p:transition>
    </mc:Choice>
    <mc:Fallback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2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</Words>
  <Application>Microsoft Office PowerPoint</Application>
  <DocSecurity>0</DocSecurity>
  <PresentationFormat>Widescreen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Microsoft YaHei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a83192</cp:lastModifiedBy>
  <cp:revision>2</cp:revision>
  <dcterms:created xsi:type="dcterms:W3CDTF">2026-07-20T05:14:17Z</dcterms:created>
  <dcterms:modified xsi:type="dcterms:W3CDTF">2026-07-21T01:48:40Z</dcterms:modified>
</cp:coreProperties>
</file>